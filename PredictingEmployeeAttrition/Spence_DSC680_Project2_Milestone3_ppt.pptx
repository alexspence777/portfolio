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6" r:id="rId9"/>
    <p:sldId id="263"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83" d="100"/>
          <a:sy n="83" d="100"/>
        </p:scale>
        <p:origin x="8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E6EAF0-6AA5-46F3-BF2E-B90E9650187F}"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B91C16-E3D2-45DC-BFFD-2AE1DB111AE3}" type="slidenum">
              <a:rPr lang="en-US" smtClean="0"/>
              <a:t>‹#›</a:t>
            </a:fld>
            <a:endParaRPr lang="en-US"/>
          </a:p>
        </p:txBody>
      </p:sp>
    </p:spTree>
    <p:extLst>
      <p:ext uri="{BB962C8B-B14F-4D97-AF65-F5344CB8AC3E}">
        <p14:creationId xmlns:p14="http://schemas.microsoft.com/office/powerpoint/2010/main" val="116348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Hi everyone, this is my second project: predicting which employees are most likely to leave using HR analytics data. Today I'll walk through the problem, the data, how I built the model, key results, a practical demo, and what it all means for real companies. Let's get started."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09B91C16-E3D2-45DC-BFFD-2AE1DB111AE3}" type="slidenum">
              <a:rPr lang="en-US" smtClean="0"/>
              <a:t>1</a:t>
            </a:fld>
            <a:endParaRPr lang="en-US"/>
          </a:p>
        </p:txBody>
      </p:sp>
    </p:spTree>
    <p:extLst>
      <p:ext uri="{BB962C8B-B14F-4D97-AF65-F5344CB8AC3E}">
        <p14:creationId xmlns:p14="http://schemas.microsoft.com/office/powerpoint/2010/main" val="1981649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"First, the business problem. Every time a good employee leaves, it costs a company a lot – estimates range from 50% to 200% of their annual salary when you include recruiting, training, lost productivity, and team disruption. High turnover also hurts morale and knowledge retention. HR teams want to spot people at risk of leaving early so they can have conversations about pay, career growth, workload, or recognition before the resignation happens. The goal here is a predictive model that flags high-risk employees in a way managers can actually act on."</a:t>
            </a:r>
          </a:p>
          <a:p>
            <a:endParaRPr lang="en-US" dirty="0"/>
          </a:p>
        </p:txBody>
      </p:sp>
      <p:sp>
        <p:nvSpPr>
          <p:cNvPr id="4" name="Slide Number Placeholder 3"/>
          <p:cNvSpPr>
            <a:spLocks noGrp="1"/>
          </p:cNvSpPr>
          <p:nvPr>
            <p:ph type="sldNum" sz="quarter" idx="5"/>
          </p:nvPr>
        </p:nvSpPr>
        <p:spPr/>
        <p:txBody>
          <a:bodyPr/>
          <a:lstStyle/>
          <a:p>
            <a:fld id="{09B91C16-E3D2-45DC-BFFD-2AE1DB111AE3}" type="slidenum">
              <a:rPr lang="en-US" smtClean="0"/>
              <a:t>2</a:t>
            </a:fld>
            <a:endParaRPr lang="en-US"/>
          </a:p>
        </p:txBody>
      </p:sp>
    </p:spTree>
    <p:extLst>
      <p:ext uri="{BB962C8B-B14F-4D97-AF65-F5344CB8AC3E}">
        <p14:creationId xmlns:p14="http://schemas.microsoft.com/office/powerpoint/2010/main" val="3982563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"I used the IBM HR Analytics Employee Attrition &amp; Performance dataset from Kaggle – it's a public, synthetic dataset with 1,470 employee records and 35 original features. These features cover things like age, job role, monthly income, distance from home, overtime status, job satisfaction, work-life balance, years at company, and more. The attrition rate is about 16.1% – so it's imbalanced, which we have to handle carefully."</a:t>
            </a:r>
          </a:p>
          <a:p>
            <a:endParaRPr lang="en-US" dirty="0"/>
          </a:p>
        </p:txBody>
      </p:sp>
      <p:sp>
        <p:nvSpPr>
          <p:cNvPr id="4" name="Slide Number Placeholder 3"/>
          <p:cNvSpPr>
            <a:spLocks noGrp="1"/>
          </p:cNvSpPr>
          <p:nvPr>
            <p:ph type="sldNum" sz="quarter" idx="5"/>
          </p:nvPr>
        </p:nvSpPr>
        <p:spPr/>
        <p:txBody>
          <a:bodyPr/>
          <a:lstStyle/>
          <a:p>
            <a:fld id="{09B91C16-E3D2-45DC-BFFD-2AE1DB111AE3}" type="slidenum">
              <a:rPr lang="en-US" smtClean="0"/>
              <a:t>3</a:t>
            </a:fld>
            <a:endParaRPr lang="en-US"/>
          </a:p>
        </p:txBody>
      </p:sp>
    </p:spTree>
    <p:extLst>
      <p:ext uri="{BB962C8B-B14F-4D97-AF65-F5344CB8AC3E}">
        <p14:creationId xmlns:p14="http://schemas.microsoft.com/office/powerpoint/2010/main" val="7305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For methods, I did an 80/20 train-test split with stratification to keep the class balance. I started with logistic regression as a simple baseline. The main model is </a:t>
            </a:r>
            <a:r>
              <a:rPr lang="en-US" dirty="0" err="1">
                <a:effectLst/>
              </a:rPr>
              <a:t>XGBoost</a:t>
            </a:r>
            <a:r>
              <a:rPr lang="en-US" dirty="0">
                <a:effectLst/>
              </a:rPr>
              <a:t> – it handles tabular data and imbalance well with class weighting. I used cross-validation to tune hyperparameters like tree depth and learning rate. Evaluation focused on AUC-ROC, precision-recall, and SHAP for explaining predictions – because in HR, understanding why someone is flagged is just as important as the prediction itself."</a:t>
            </a:r>
          </a:p>
          <a:p>
            <a:endParaRPr lang="en-US" dirty="0"/>
          </a:p>
        </p:txBody>
      </p:sp>
      <p:sp>
        <p:nvSpPr>
          <p:cNvPr id="4" name="Slide Number Placeholder 3"/>
          <p:cNvSpPr>
            <a:spLocks noGrp="1"/>
          </p:cNvSpPr>
          <p:nvPr>
            <p:ph type="sldNum" sz="quarter" idx="5"/>
          </p:nvPr>
        </p:nvSpPr>
        <p:spPr/>
        <p:txBody>
          <a:bodyPr/>
          <a:lstStyle/>
          <a:p>
            <a:fld id="{09B91C16-E3D2-45DC-BFFD-2AE1DB111AE3}" type="slidenum">
              <a:rPr lang="en-US" smtClean="0"/>
              <a:t>4</a:t>
            </a:fld>
            <a:endParaRPr lang="en-US"/>
          </a:p>
        </p:txBody>
      </p:sp>
    </p:spTree>
    <p:extLst>
      <p:ext uri="{BB962C8B-B14F-4D97-AF65-F5344CB8AC3E}">
        <p14:creationId xmlns:p14="http://schemas.microsoft.com/office/powerpoint/2010/main" val="2990609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"The </a:t>
            </a:r>
            <a:r>
              <a:rPr lang="en-US" dirty="0" err="1">
                <a:effectLst/>
              </a:rPr>
              <a:t>XGBoost</a:t>
            </a:r>
            <a:r>
              <a:rPr lang="en-US" dirty="0">
                <a:effectLst/>
              </a:rPr>
              <a:t> model reached an AUC-ROC of 0.862 on the test set – a solid result for this kind of HR prediction task. Here in Figure 1 you can see the top 15 features by importance. The biggest drivers are overtime status, job satisfaction, monthly income, distance from home, and years since last promotion. These make intuitive sense – overtime often signals burnout, low satisfaction pushes people out, and low pay or long waits for promotion increase flight risk."</a:t>
            </a:r>
          </a:p>
          <a:p>
            <a:endParaRPr lang="en-US" dirty="0"/>
          </a:p>
        </p:txBody>
      </p:sp>
      <p:sp>
        <p:nvSpPr>
          <p:cNvPr id="4" name="Slide Number Placeholder 3"/>
          <p:cNvSpPr>
            <a:spLocks noGrp="1"/>
          </p:cNvSpPr>
          <p:nvPr>
            <p:ph type="sldNum" sz="quarter" idx="5"/>
          </p:nvPr>
        </p:nvSpPr>
        <p:spPr/>
        <p:txBody>
          <a:bodyPr/>
          <a:lstStyle/>
          <a:p>
            <a:fld id="{09B91C16-E3D2-45DC-BFFD-2AE1DB111AE3}" type="slidenum">
              <a:rPr lang="en-US" smtClean="0"/>
              <a:t>5</a:t>
            </a:fld>
            <a:endParaRPr lang="en-US"/>
          </a:p>
        </p:txBody>
      </p:sp>
    </p:spTree>
    <p:extLst>
      <p:ext uri="{BB962C8B-B14F-4D97-AF65-F5344CB8AC3E}">
        <p14:creationId xmlns:p14="http://schemas.microsoft.com/office/powerpoint/2010/main" val="765429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"Figure 2 is the SHAP summary plot – it shows not just importance but direction. Red means higher values of the feature increase predicted attrition risk, blue means they decrease it. So overtime 'Yes' pushes risk way up, higher satisfaction and income pull it down. This gives clear, actionable insight – managers can see exactly what to target."</a:t>
            </a:r>
          </a:p>
          <a:p>
            <a:endParaRPr lang="en-US" dirty="0"/>
          </a:p>
        </p:txBody>
      </p:sp>
      <p:sp>
        <p:nvSpPr>
          <p:cNvPr id="4" name="Slide Number Placeholder 3"/>
          <p:cNvSpPr>
            <a:spLocks noGrp="1"/>
          </p:cNvSpPr>
          <p:nvPr>
            <p:ph type="sldNum" sz="quarter" idx="5"/>
          </p:nvPr>
        </p:nvSpPr>
        <p:spPr/>
        <p:txBody>
          <a:bodyPr/>
          <a:lstStyle/>
          <a:p>
            <a:fld id="{09B91C16-E3D2-45DC-BFFD-2AE1DB111AE3}" type="slidenum">
              <a:rPr lang="en-US" smtClean="0"/>
              <a:t>6</a:t>
            </a:fld>
            <a:endParaRPr lang="en-US"/>
          </a:p>
        </p:txBody>
      </p:sp>
    </p:spTree>
    <p:extLst>
      <p:ext uri="{BB962C8B-B14F-4D97-AF65-F5344CB8AC3E}">
        <p14:creationId xmlns:p14="http://schemas.microsoft.com/office/powerpoint/2010/main" val="4110330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"Figure 3 zooms in on overtime – the single strongest predictor. The SHAP dependence plot shows that when overtime switches from No to Yes, predicted risk jumps significantly. This is a very actionable finding – reducing unnecessary overtime could directly lower turnover risk.“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"Figure 4 is the precision-recall curve. Because attrition is only 16%, precision matters – we don't want to flag too many false positives and overwhelm HR. At a reasonable threshold, we get good recall without sacrificing too much precision – meaning we catch most leavers while keeping alerts manageable."</a:t>
            </a:r>
          </a:p>
          <a:p>
            <a:endParaRPr lang="en-US" dirty="0">
              <a:effectLst/>
            </a:endParaRPr>
          </a:p>
        </p:txBody>
      </p:sp>
      <p:sp>
        <p:nvSpPr>
          <p:cNvPr id="4" name="Slide Number Placeholder 3"/>
          <p:cNvSpPr>
            <a:spLocks noGrp="1"/>
          </p:cNvSpPr>
          <p:nvPr>
            <p:ph type="sldNum" sz="quarter" idx="5"/>
          </p:nvPr>
        </p:nvSpPr>
        <p:spPr/>
        <p:txBody>
          <a:bodyPr/>
          <a:lstStyle/>
          <a:p>
            <a:fld id="{09B91C16-E3D2-45DC-BFFD-2AE1DB111AE3}" type="slidenum">
              <a:rPr lang="en-US" smtClean="0"/>
              <a:t>7</a:t>
            </a:fld>
            <a:endParaRPr lang="en-US"/>
          </a:p>
        </p:txBody>
      </p:sp>
    </p:spTree>
    <p:extLst>
      <p:ext uri="{BB962C8B-B14F-4D97-AF65-F5344CB8AC3E}">
        <p14:creationId xmlns:p14="http://schemas.microsoft.com/office/powerpoint/2010/main" val="3021164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"To make this useful, I built a simple </a:t>
            </a:r>
            <a:r>
              <a:rPr lang="en-US" dirty="0" err="1">
                <a:effectLst/>
              </a:rPr>
              <a:t>Streamlit</a:t>
            </a:r>
            <a:r>
              <a:rPr lang="en-US" dirty="0">
                <a:effectLst/>
              </a:rPr>
              <a:t> dashboard – Figure 5 is a screenshot. You input overtime, satisfaction level, monthly income, distance from home, and years since last promotion. It gives an instant risk percentage and a color-coded alert – high risk in red, moderate in yellow, low in green. This could easily be added to an HR portal or manager dashboard for quick checks."</a:t>
            </a:r>
          </a:p>
        </p:txBody>
      </p:sp>
      <p:sp>
        <p:nvSpPr>
          <p:cNvPr id="4" name="Slide Number Placeholder 3"/>
          <p:cNvSpPr>
            <a:spLocks noGrp="1"/>
          </p:cNvSpPr>
          <p:nvPr>
            <p:ph type="sldNum" sz="quarter" idx="5"/>
          </p:nvPr>
        </p:nvSpPr>
        <p:spPr/>
        <p:txBody>
          <a:bodyPr/>
          <a:lstStyle/>
          <a:p>
            <a:fld id="{09B91C16-E3D2-45DC-BFFD-2AE1DB111AE3}" type="slidenum">
              <a:rPr lang="en-US" smtClean="0"/>
              <a:t>8</a:t>
            </a:fld>
            <a:endParaRPr lang="en-US"/>
          </a:p>
        </p:txBody>
      </p:sp>
    </p:spTree>
    <p:extLst>
      <p:ext uri="{BB962C8B-B14F-4D97-AF65-F5344CB8AC3E}">
        <p14:creationId xmlns:p14="http://schemas.microsoft.com/office/powerpoint/2010/main" val="1930690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"So what should companies do? First, prioritize manager conversations for anyone with overtime plus low satisfaction. Second, review promotion timelines – waits longer than 2–3 years noticeably increase risk. Third, consider flexible work options for long-commute employees. On ethics: the model performs similarly across gender and age groups, with only minor differences in false positives by role. It's positioned strictly as decision support – HR should always review and talk to people, never act solely on the prediction."</a:t>
            </a:r>
          </a:p>
        </p:txBody>
      </p:sp>
      <p:sp>
        <p:nvSpPr>
          <p:cNvPr id="4" name="Slide Number Placeholder 3"/>
          <p:cNvSpPr>
            <a:spLocks noGrp="1"/>
          </p:cNvSpPr>
          <p:nvPr>
            <p:ph type="sldNum" sz="quarter" idx="5"/>
          </p:nvPr>
        </p:nvSpPr>
        <p:spPr/>
        <p:txBody>
          <a:bodyPr/>
          <a:lstStyle/>
          <a:p>
            <a:fld id="{09B91C16-E3D2-45DC-BFFD-2AE1DB111AE3}" type="slidenum">
              <a:rPr lang="en-US" smtClean="0"/>
              <a:t>9</a:t>
            </a:fld>
            <a:endParaRPr lang="en-US"/>
          </a:p>
        </p:txBody>
      </p:sp>
    </p:spTree>
    <p:extLst>
      <p:ext uri="{BB962C8B-B14F-4D97-AF65-F5344CB8AC3E}">
        <p14:creationId xmlns:p14="http://schemas.microsoft.com/office/powerpoint/2010/main" val="1961191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"To wrap up, this project showed that we can predict attrition reasonably well with standard HR data, and the insights point to preventable causes like overtime and stalled careers. The biggest lesson for me was how important interpretability is – especially in HR where decisions affect real people. Next steps would be testing on actual company data and adding things like recent engagement survey scores. Thank you so much for watching</a:t>
            </a:r>
          </a:p>
          <a:p>
            <a:endParaRPr lang="en-US" dirty="0"/>
          </a:p>
        </p:txBody>
      </p:sp>
      <p:sp>
        <p:nvSpPr>
          <p:cNvPr id="4" name="Slide Number Placeholder 3"/>
          <p:cNvSpPr>
            <a:spLocks noGrp="1"/>
          </p:cNvSpPr>
          <p:nvPr>
            <p:ph type="sldNum" sz="quarter" idx="5"/>
          </p:nvPr>
        </p:nvSpPr>
        <p:spPr/>
        <p:txBody>
          <a:bodyPr/>
          <a:lstStyle/>
          <a:p>
            <a:fld id="{09B91C16-E3D2-45DC-BFFD-2AE1DB111AE3}" type="slidenum">
              <a:rPr lang="en-US" smtClean="0"/>
              <a:t>10</a:t>
            </a:fld>
            <a:endParaRPr lang="en-US"/>
          </a:p>
        </p:txBody>
      </p:sp>
    </p:spTree>
    <p:extLst>
      <p:ext uri="{BB962C8B-B14F-4D97-AF65-F5344CB8AC3E}">
        <p14:creationId xmlns:p14="http://schemas.microsoft.com/office/powerpoint/2010/main" val="1954115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E3E4-F06C-A913-CFE9-5B76ADD4D5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898181-A334-BBA7-2ED9-D79F54F693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5CE1F07-B125-2684-98BA-3523DF7BF607}"/>
              </a:ext>
            </a:extLst>
          </p:cNvPr>
          <p:cNvSpPr>
            <a:spLocks noGrp="1"/>
          </p:cNvSpPr>
          <p:nvPr>
            <p:ph type="dt" sz="half" idx="10"/>
          </p:nvPr>
        </p:nvSpPr>
        <p:spPr/>
        <p:txBody>
          <a:bodyPr/>
          <a:lstStyle/>
          <a:p>
            <a:fld id="{43187BD9-779F-49EA-87D9-933EBBF029A6}" type="datetimeFigureOut">
              <a:rPr lang="en-US" smtClean="0"/>
              <a:t>2/12/2026</a:t>
            </a:fld>
            <a:endParaRPr lang="en-US"/>
          </a:p>
        </p:txBody>
      </p:sp>
      <p:sp>
        <p:nvSpPr>
          <p:cNvPr id="5" name="Footer Placeholder 4">
            <a:extLst>
              <a:ext uri="{FF2B5EF4-FFF2-40B4-BE49-F238E27FC236}">
                <a16:creationId xmlns:a16="http://schemas.microsoft.com/office/drawing/2014/main" id="{2119EEBA-0079-E444-CC75-B4AF07C050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8EDE53-02D4-4FD1-3BE1-820A1B0350E0}"/>
              </a:ext>
            </a:extLst>
          </p:cNvPr>
          <p:cNvSpPr>
            <a:spLocks noGrp="1"/>
          </p:cNvSpPr>
          <p:nvPr>
            <p:ph type="sldNum" sz="quarter" idx="12"/>
          </p:nvPr>
        </p:nvSpPr>
        <p:spPr/>
        <p:txBody>
          <a:bodyPr/>
          <a:lstStyle/>
          <a:p>
            <a:fld id="{4E92E3E5-2D1C-468D-B907-F54467B73A74}" type="slidenum">
              <a:rPr lang="en-US" smtClean="0"/>
              <a:t>‹#›</a:t>
            </a:fld>
            <a:endParaRPr lang="en-US"/>
          </a:p>
        </p:txBody>
      </p:sp>
    </p:spTree>
    <p:extLst>
      <p:ext uri="{BB962C8B-B14F-4D97-AF65-F5344CB8AC3E}">
        <p14:creationId xmlns:p14="http://schemas.microsoft.com/office/powerpoint/2010/main" val="31816702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3FDA2-5A1C-80A8-6F63-097C457D2B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0371D0-239D-2762-3CC6-CAEE191953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8C6959-4646-CFF7-7A29-F735F3C7D0EA}"/>
              </a:ext>
            </a:extLst>
          </p:cNvPr>
          <p:cNvSpPr>
            <a:spLocks noGrp="1"/>
          </p:cNvSpPr>
          <p:nvPr>
            <p:ph type="dt" sz="half" idx="10"/>
          </p:nvPr>
        </p:nvSpPr>
        <p:spPr/>
        <p:txBody>
          <a:bodyPr/>
          <a:lstStyle/>
          <a:p>
            <a:fld id="{43187BD9-779F-49EA-87D9-933EBBF029A6}" type="datetimeFigureOut">
              <a:rPr lang="en-US" smtClean="0"/>
              <a:t>2/12/2026</a:t>
            </a:fld>
            <a:endParaRPr lang="en-US"/>
          </a:p>
        </p:txBody>
      </p:sp>
      <p:sp>
        <p:nvSpPr>
          <p:cNvPr id="5" name="Footer Placeholder 4">
            <a:extLst>
              <a:ext uri="{FF2B5EF4-FFF2-40B4-BE49-F238E27FC236}">
                <a16:creationId xmlns:a16="http://schemas.microsoft.com/office/drawing/2014/main" id="{BCD8BE2C-0489-6F63-1E52-44059D9C4D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9F1362-38C3-1457-5677-F0ED48F42BD4}"/>
              </a:ext>
            </a:extLst>
          </p:cNvPr>
          <p:cNvSpPr>
            <a:spLocks noGrp="1"/>
          </p:cNvSpPr>
          <p:nvPr>
            <p:ph type="sldNum" sz="quarter" idx="12"/>
          </p:nvPr>
        </p:nvSpPr>
        <p:spPr/>
        <p:txBody>
          <a:bodyPr/>
          <a:lstStyle/>
          <a:p>
            <a:fld id="{4E92E3E5-2D1C-468D-B907-F54467B73A74}" type="slidenum">
              <a:rPr lang="en-US" smtClean="0"/>
              <a:t>‹#›</a:t>
            </a:fld>
            <a:endParaRPr lang="en-US"/>
          </a:p>
        </p:txBody>
      </p:sp>
    </p:spTree>
    <p:extLst>
      <p:ext uri="{BB962C8B-B14F-4D97-AF65-F5344CB8AC3E}">
        <p14:creationId xmlns:p14="http://schemas.microsoft.com/office/powerpoint/2010/main" val="2590175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F6620-7A0B-7DBE-B17A-3640F4FA38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A1C15D-3AF1-33F4-CDC3-71993E866D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305822-8C73-94A0-F462-32289C98CDBD}"/>
              </a:ext>
            </a:extLst>
          </p:cNvPr>
          <p:cNvSpPr>
            <a:spLocks noGrp="1"/>
          </p:cNvSpPr>
          <p:nvPr>
            <p:ph type="dt" sz="half" idx="10"/>
          </p:nvPr>
        </p:nvSpPr>
        <p:spPr/>
        <p:txBody>
          <a:bodyPr/>
          <a:lstStyle/>
          <a:p>
            <a:fld id="{43187BD9-779F-49EA-87D9-933EBBF029A6}" type="datetimeFigureOut">
              <a:rPr lang="en-US" smtClean="0"/>
              <a:t>2/12/2026</a:t>
            </a:fld>
            <a:endParaRPr lang="en-US"/>
          </a:p>
        </p:txBody>
      </p:sp>
      <p:sp>
        <p:nvSpPr>
          <p:cNvPr id="5" name="Footer Placeholder 4">
            <a:extLst>
              <a:ext uri="{FF2B5EF4-FFF2-40B4-BE49-F238E27FC236}">
                <a16:creationId xmlns:a16="http://schemas.microsoft.com/office/drawing/2014/main" id="{19EDF885-7BB6-624E-2C5C-8471B5D3F6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CAD130-EAB5-081B-AE69-9AAB3D59857B}"/>
              </a:ext>
            </a:extLst>
          </p:cNvPr>
          <p:cNvSpPr>
            <a:spLocks noGrp="1"/>
          </p:cNvSpPr>
          <p:nvPr>
            <p:ph type="sldNum" sz="quarter" idx="12"/>
          </p:nvPr>
        </p:nvSpPr>
        <p:spPr/>
        <p:txBody>
          <a:bodyPr/>
          <a:lstStyle/>
          <a:p>
            <a:fld id="{4E92E3E5-2D1C-468D-B907-F54467B73A74}" type="slidenum">
              <a:rPr lang="en-US" smtClean="0"/>
              <a:t>‹#›</a:t>
            </a:fld>
            <a:endParaRPr lang="en-US"/>
          </a:p>
        </p:txBody>
      </p:sp>
    </p:spTree>
    <p:extLst>
      <p:ext uri="{BB962C8B-B14F-4D97-AF65-F5344CB8AC3E}">
        <p14:creationId xmlns:p14="http://schemas.microsoft.com/office/powerpoint/2010/main" val="978795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603F4-7A8D-A5C1-6A98-7935731847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076548-96B5-9CFF-4044-BA10CEDEC3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AD183B-AB53-A729-EFA6-5C02F59DC5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493C9F-7101-78E1-81D0-DF97C44CEEA1}"/>
              </a:ext>
            </a:extLst>
          </p:cNvPr>
          <p:cNvSpPr>
            <a:spLocks noGrp="1"/>
          </p:cNvSpPr>
          <p:nvPr>
            <p:ph type="dt" sz="half" idx="10"/>
          </p:nvPr>
        </p:nvSpPr>
        <p:spPr/>
        <p:txBody>
          <a:bodyPr/>
          <a:lstStyle/>
          <a:p>
            <a:fld id="{43187BD9-779F-49EA-87D9-933EBBF029A6}" type="datetimeFigureOut">
              <a:rPr lang="en-US" smtClean="0"/>
              <a:t>2/12/2026</a:t>
            </a:fld>
            <a:endParaRPr lang="en-US"/>
          </a:p>
        </p:txBody>
      </p:sp>
      <p:sp>
        <p:nvSpPr>
          <p:cNvPr id="6" name="Footer Placeholder 5">
            <a:extLst>
              <a:ext uri="{FF2B5EF4-FFF2-40B4-BE49-F238E27FC236}">
                <a16:creationId xmlns:a16="http://schemas.microsoft.com/office/drawing/2014/main" id="{39D89338-9D9D-7831-E8E2-FC74A01D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F02479-3198-0794-F23E-BC3B1D83FF16}"/>
              </a:ext>
            </a:extLst>
          </p:cNvPr>
          <p:cNvSpPr>
            <a:spLocks noGrp="1"/>
          </p:cNvSpPr>
          <p:nvPr>
            <p:ph type="sldNum" sz="quarter" idx="12"/>
          </p:nvPr>
        </p:nvSpPr>
        <p:spPr/>
        <p:txBody>
          <a:bodyPr/>
          <a:lstStyle/>
          <a:p>
            <a:fld id="{4E92E3E5-2D1C-468D-B907-F54467B73A74}" type="slidenum">
              <a:rPr lang="en-US" smtClean="0"/>
              <a:t>‹#›</a:t>
            </a:fld>
            <a:endParaRPr lang="en-US"/>
          </a:p>
        </p:txBody>
      </p:sp>
    </p:spTree>
    <p:extLst>
      <p:ext uri="{BB962C8B-B14F-4D97-AF65-F5344CB8AC3E}">
        <p14:creationId xmlns:p14="http://schemas.microsoft.com/office/powerpoint/2010/main" val="2555211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52F24-2516-B64D-7784-5483A21661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E330AE-94E1-AD9D-9886-63E9EF8373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0841D8-CCEF-9FBB-E688-63E49C7AC5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62FB0A6-356F-9F7A-07D4-2A92721609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4C8F56-807C-6FC5-28AC-528F22059E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27430E-4C4A-5359-EA34-B7C07C9BC14E}"/>
              </a:ext>
            </a:extLst>
          </p:cNvPr>
          <p:cNvSpPr>
            <a:spLocks noGrp="1"/>
          </p:cNvSpPr>
          <p:nvPr>
            <p:ph type="dt" sz="half" idx="10"/>
          </p:nvPr>
        </p:nvSpPr>
        <p:spPr/>
        <p:txBody>
          <a:bodyPr/>
          <a:lstStyle/>
          <a:p>
            <a:fld id="{43187BD9-779F-49EA-87D9-933EBBF029A6}" type="datetimeFigureOut">
              <a:rPr lang="en-US" smtClean="0"/>
              <a:t>2/12/2026</a:t>
            </a:fld>
            <a:endParaRPr lang="en-US"/>
          </a:p>
        </p:txBody>
      </p:sp>
      <p:sp>
        <p:nvSpPr>
          <p:cNvPr id="8" name="Footer Placeholder 7">
            <a:extLst>
              <a:ext uri="{FF2B5EF4-FFF2-40B4-BE49-F238E27FC236}">
                <a16:creationId xmlns:a16="http://schemas.microsoft.com/office/drawing/2014/main" id="{9EC8C102-BD1A-E9DE-8284-00AE365875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85EF97-3A69-5238-F847-660A612F89A2}"/>
              </a:ext>
            </a:extLst>
          </p:cNvPr>
          <p:cNvSpPr>
            <a:spLocks noGrp="1"/>
          </p:cNvSpPr>
          <p:nvPr>
            <p:ph type="sldNum" sz="quarter" idx="12"/>
          </p:nvPr>
        </p:nvSpPr>
        <p:spPr/>
        <p:txBody>
          <a:bodyPr/>
          <a:lstStyle/>
          <a:p>
            <a:fld id="{4E92E3E5-2D1C-468D-B907-F54467B73A74}" type="slidenum">
              <a:rPr lang="en-US" smtClean="0"/>
              <a:t>‹#›</a:t>
            </a:fld>
            <a:endParaRPr lang="en-US"/>
          </a:p>
        </p:txBody>
      </p:sp>
    </p:spTree>
    <p:extLst>
      <p:ext uri="{BB962C8B-B14F-4D97-AF65-F5344CB8AC3E}">
        <p14:creationId xmlns:p14="http://schemas.microsoft.com/office/powerpoint/2010/main" val="3855261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65984-2DC9-5360-2055-7F35DC0008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7950C0-4509-CB3B-5E7D-64C66CA88EC0}"/>
              </a:ext>
            </a:extLst>
          </p:cNvPr>
          <p:cNvSpPr>
            <a:spLocks noGrp="1"/>
          </p:cNvSpPr>
          <p:nvPr>
            <p:ph type="dt" sz="half" idx="10"/>
          </p:nvPr>
        </p:nvSpPr>
        <p:spPr/>
        <p:txBody>
          <a:bodyPr/>
          <a:lstStyle/>
          <a:p>
            <a:fld id="{43187BD9-779F-49EA-87D9-933EBBF029A6}" type="datetimeFigureOut">
              <a:rPr lang="en-US" smtClean="0"/>
              <a:t>2/12/2026</a:t>
            </a:fld>
            <a:endParaRPr lang="en-US"/>
          </a:p>
        </p:txBody>
      </p:sp>
      <p:sp>
        <p:nvSpPr>
          <p:cNvPr id="4" name="Footer Placeholder 3">
            <a:extLst>
              <a:ext uri="{FF2B5EF4-FFF2-40B4-BE49-F238E27FC236}">
                <a16:creationId xmlns:a16="http://schemas.microsoft.com/office/drawing/2014/main" id="{FA682B02-3FE9-4AEB-A428-40CC63120A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43D5C6-857A-9940-3517-3CDFA9AB19E3}"/>
              </a:ext>
            </a:extLst>
          </p:cNvPr>
          <p:cNvSpPr>
            <a:spLocks noGrp="1"/>
          </p:cNvSpPr>
          <p:nvPr>
            <p:ph type="sldNum" sz="quarter" idx="12"/>
          </p:nvPr>
        </p:nvSpPr>
        <p:spPr/>
        <p:txBody>
          <a:bodyPr/>
          <a:lstStyle/>
          <a:p>
            <a:fld id="{4E92E3E5-2D1C-468D-B907-F54467B73A74}" type="slidenum">
              <a:rPr lang="en-US" smtClean="0"/>
              <a:t>‹#›</a:t>
            </a:fld>
            <a:endParaRPr lang="en-US"/>
          </a:p>
        </p:txBody>
      </p:sp>
    </p:spTree>
    <p:extLst>
      <p:ext uri="{BB962C8B-B14F-4D97-AF65-F5344CB8AC3E}">
        <p14:creationId xmlns:p14="http://schemas.microsoft.com/office/powerpoint/2010/main" val="263062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23C9CB-EC62-148B-769F-41736CE2DC23}"/>
              </a:ext>
            </a:extLst>
          </p:cNvPr>
          <p:cNvSpPr>
            <a:spLocks noGrp="1"/>
          </p:cNvSpPr>
          <p:nvPr>
            <p:ph type="dt" sz="half" idx="10"/>
          </p:nvPr>
        </p:nvSpPr>
        <p:spPr/>
        <p:txBody>
          <a:bodyPr/>
          <a:lstStyle/>
          <a:p>
            <a:fld id="{43187BD9-779F-49EA-87D9-933EBBF029A6}" type="datetimeFigureOut">
              <a:rPr lang="en-US" smtClean="0"/>
              <a:t>2/12/2026</a:t>
            </a:fld>
            <a:endParaRPr lang="en-US"/>
          </a:p>
        </p:txBody>
      </p:sp>
      <p:sp>
        <p:nvSpPr>
          <p:cNvPr id="3" name="Footer Placeholder 2">
            <a:extLst>
              <a:ext uri="{FF2B5EF4-FFF2-40B4-BE49-F238E27FC236}">
                <a16:creationId xmlns:a16="http://schemas.microsoft.com/office/drawing/2014/main" id="{6EE5198C-1CFC-D3A5-5489-F6DBF25F17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99DE0B-BA51-1FEC-6AF9-900D01E25C9E}"/>
              </a:ext>
            </a:extLst>
          </p:cNvPr>
          <p:cNvSpPr>
            <a:spLocks noGrp="1"/>
          </p:cNvSpPr>
          <p:nvPr>
            <p:ph type="sldNum" sz="quarter" idx="12"/>
          </p:nvPr>
        </p:nvSpPr>
        <p:spPr/>
        <p:txBody>
          <a:bodyPr/>
          <a:lstStyle/>
          <a:p>
            <a:fld id="{4E92E3E5-2D1C-468D-B907-F54467B73A74}" type="slidenum">
              <a:rPr lang="en-US" smtClean="0"/>
              <a:t>‹#›</a:t>
            </a:fld>
            <a:endParaRPr lang="en-US"/>
          </a:p>
        </p:txBody>
      </p:sp>
    </p:spTree>
    <p:extLst>
      <p:ext uri="{BB962C8B-B14F-4D97-AF65-F5344CB8AC3E}">
        <p14:creationId xmlns:p14="http://schemas.microsoft.com/office/powerpoint/2010/main" val="3208202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3A00D-2120-A7A0-D366-EFC3D05150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A2D660-C610-B8FD-96C3-788D8A1EF9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4B93CF-982B-0729-9BD7-06FE2BA91D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57467A-0E5B-EA34-9177-AD0275D54DA4}"/>
              </a:ext>
            </a:extLst>
          </p:cNvPr>
          <p:cNvSpPr>
            <a:spLocks noGrp="1"/>
          </p:cNvSpPr>
          <p:nvPr>
            <p:ph type="dt" sz="half" idx="10"/>
          </p:nvPr>
        </p:nvSpPr>
        <p:spPr/>
        <p:txBody>
          <a:bodyPr/>
          <a:lstStyle/>
          <a:p>
            <a:fld id="{43187BD9-779F-49EA-87D9-933EBBF029A6}" type="datetimeFigureOut">
              <a:rPr lang="en-US" smtClean="0"/>
              <a:t>2/12/2026</a:t>
            </a:fld>
            <a:endParaRPr lang="en-US"/>
          </a:p>
        </p:txBody>
      </p:sp>
      <p:sp>
        <p:nvSpPr>
          <p:cNvPr id="6" name="Footer Placeholder 5">
            <a:extLst>
              <a:ext uri="{FF2B5EF4-FFF2-40B4-BE49-F238E27FC236}">
                <a16:creationId xmlns:a16="http://schemas.microsoft.com/office/drawing/2014/main" id="{8978168F-FC3F-732B-2F2E-28045BCB90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5A1CC6-D403-3966-40D3-6AF3D8D73129}"/>
              </a:ext>
            </a:extLst>
          </p:cNvPr>
          <p:cNvSpPr>
            <a:spLocks noGrp="1"/>
          </p:cNvSpPr>
          <p:nvPr>
            <p:ph type="sldNum" sz="quarter" idx="12"/>
          </p:nvPr>
        </p:nvSpPr>
        <p:spPr/>
        <p:txBody>
          <a:bodyPr/>
          <a:lstStyle/>
          <a:p>
            <a:fld id="{4E92E3E5-2D1C-468D-B907-F54467B73A74}" type="slidenum">
              <a:rPr lang="en-US" smtClean="0"/>
              <a:t>‹#›</a:t>
            </a:fld>
            <a:endParaRPr lang="en-US"/>
          </a:p>
        </p:txBody>
      </p:sp>
    </p:spTree>
    <p:extLst>
      <p:ext uri="{BB962C8B-B14F-4D97-AF65-F5344CB8AC3E}">
        <p14:creationId xmlns:p14="http://schemas.microsoft.com/office/powerpoint/2010/main" val="3814326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ED6B8-06B6-5F85-A578-5F3B26554D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45E4C4-8344-BA3E-8ECE-632CB2D811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7D55C2F-3478-3B02-BB55-5AA48792FC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21828A-5374-91C4-B645-7D6EF06AD0AA}"/>
              </a:ext>
            </a:extLst>
          </p:cNvPr>
          <p:cNvSpPr>
            <a:spLocks noGrp="1"/>
          </p:cNvSpPr>
          <p:nvPr>
            <p:ph type="dt" sz="half" idx="10"/>
          </p:nvPr>
        </p:nvSpPr>
        <p:spPr/>
        <p:txBody>
          <a:bodyPr/>
          <a:lstStyle/>
          <a:p>
            <a:fld id="{43187BD9-779F-49EA-87D9-933EBBF029A6}" type="datetimeFigureOut">
              <a:rPr lang="en-US" smtClean="0"/>
              <a:t>2/12/2026</a:t>
            </a:fld>
            <a:endParaRPr lang="en-US"/>
          </a:p>
        </p:txBody>
      </p:sp>
      <p:sp>
        <p:nvSpPr>
          <p:cNvPr id="6" name="Footer Placeholder 5">
            <a:extLst>
              <a:ext uri="{FF2B5EF4-FFF2-40B4-BE49-F238E27FC236}">
                <a16:creationId xmlns:a16="http://schemas.microsoft.com/office/drawing/2014/main" id="{90AE9576-B40E-9B27-2C65-4429B2EF08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A5F718-F343-6EEB-40B6-51EEA30EC078}"/>
              </a:ext>
            </a:extLst>
          </p:cNvPr>
          <p:cNvSpPr>
            <a:spLocks noGrp="1"/>
          </p:cNvSpPr>
          <p:nvPr>
            <p:ph type="sldNum" sz="quarter" idx="12"/>
          </p:nvPr>
        </p:nvSpPr>
        <p:spPr/>
        <p:txBody>
          <a:bodyPr/>
          <a:lstStyle/>
          <a:p>
            <a:fld id="{4E92E3E5-2D1C-468D-B907-F54467B73A74}" type="slidenum">
              <a:rPr lang="en-US" smtClean="0"/>
              <a:t>‹#›</a:t>
            </a:fld>
            <a:endParaRPr lang="en-US"/>
          </a:p>
        </p:txBody>
      </p:sp>
    </p:spTree>
    <p:extLst>
      <p:ext uri="{BB962C8B-B14F-4D97-AF65-F5344CB8AC3E}">
        <p14:creationId xmlns:p14="http://schemas.microsoft.com/office/powerpoint/2010/main" val="2819018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094A4-8CDD-A32D-CCAA-E259162CAD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0F5D8D-81FB-4A90-9A98-3E1C3A1762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0371B5-65EE-2346-A0DA-735056C24919}"/>
              </a:ext>
            </a:extLst>
          </p:cNvPr>
          <p:cNvSpPr>
            <a:spLocks noGrp="1"/>
          </p:cNvSpPr>
          <p:nvPr>
            <p:ph type="dt" sz="half" idx="10"/>
          </p:nvPr>
        </p:nvSpPr>
        <p:spPr/>
        <p:txBody>
          <a:bodyPr/>
          <a:lstStyle/>
          <a:p>
            <a:fld id="{43187BD9-779F-49EA-87D9-933EBBF029A6}" type="datetimeFigureOut">
              <a:rPr lang="en-US" smtClean="0"/>
              <a:t>2/12/2026</a:t>
            </a:fld>
            <a:endParaRPr lang="en-US"/>
          </a:p>
        </p:txBody>
      </p:sp>
      <p:sp>
        <p:nvSpPr>
          <p:cNvPr id="5" name="Footer Placeholder 4">
            <a:extLst>
              <a:ext uri="{FF2B5EF4-FFF2-40B4-BE49-F238E27FC236}">
                <a16:creationId xmlns:a16="http://schemas.microsoft.com/office/drawing/2014/main" id="{48682F05-5084-5581-CB78-CCE1763046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770C28-B623-488F-08D9-71F2108348E4}"/>
              </a:ext>
            </a:extLst>
          </p:cNvPr>
          <p:cNvSpPr>
            <a:spLocks noGrp="1"/>
          </p:cNvSpPr>
          <p:nvPr>
            <p:ph type="sldNum" sz="quarter" idx="12"/>
          </p:nvPr>
        </p:nvSpPr>
        <p:spPr/>
        <p:txBody>
          <a:bodyPr/>
          <a:lstStyle/>
          <a:p>
            <a:fld id="{4E92E3E5-2D1C-468D-B907-F54467B73A74}" type="slidenum">
              <a:rPr lang="en-US" smtClean="0"/>
              <a:t>‹#›</a:t>
            </a:fld>
            <a:endParaRPr lang="en-US"/>
          </a:p>
        </p:txBody>
      </p:sp>
    </p:spTree>
    <p:extLst>
      <p:ext uri="{BB962C8B-B14F-4D97-AF65-F5344CB8AC3E}">
        <p14:creationId xmlns:p14="http://schemas.microsoft.com/office/powerpoint/2010/main" val="11422661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87BA46-8DF7-9727-AB53-43C6113C48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C1FAFB-EBC9-7E22-3DA1-1D5109466C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EBE165-CC88-CB35-A232-11E62755FDDF}"/>
              </a:ext>
            </a:extLst>
          </p:cNvPr>
          <p:cNvSpPr>
            <a:spLocks noGrp="1"/>
          </p:cNvSpPr>
          <p:nvPr>
            <p:ph type="dt" sz="half" idx="10"/>
          </p:nvPr>
        </p:nvSpPr>
        <p:spPr/>
        <p:txBody>
          <a:bodyPr/>
          <a:lstStyle/>
          <a:p>
            <a:fld id="{43187BD9-779F-49EA-87D9-933EBBF029A6}" type="datetimeFigureOut">
              <a:rPr lang="en-US" smtClean="0"/>
              <a:t>2/12/2026</a:t>
            </a:fld>
            <a:endParaRPr lang="en-US"/>
          </a:p>
        </p:txBody>
      </p:sp>
      <p:sp>
        <p:nvSpPr>
          <p:cNvPr id="5" name="Footer Placeholder 4">
            <a:extLst>
              <a:ext uri="{FF2B5EF4-FFF2-40B4-BE49-F238E27FC236}">
                <a16:creationId xmlns:a16="http://schemas.microsoft.com/office/drawing/2014/main" id="{D41A4DC1-C16A-E316-8CC9-1668CF6882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1AC255-5FBA-7A64-B3A8-E4CB23E4FAF1}"/>
              </a:ext>
            </a:extLst>
          </p:cNvPr>
          <p:cNvSpPr>
            <a:spLocks noGrp="1"/>
          </p:cNvSpPr>
          <p:nvPr>
            <p:ph type="sldNum" sz="quarter" idx="12"/>
          </p:nvPr>
        </p:nvSpPr>
        <p:spPr/>
        <p:txBody>
          <a:bodyPr/>
          <a:lstStyle/>
          <a:p>
            <a:fld id="{4E92E3E5-2D1C-468D-B907-F54467B73A74}" type="slidenum">
              <a:rPr lang="en-US" smtClean="0"/>
              <a:t>‹#›</a:t>
            </a:fld>
            <a:endParaRPr lang="en-US"/>
          </a:p>
        </p:txBody>
      </p:sp>
    </p:spTree>
    <p:extLst>
      <p:ext uri="{BB962C8B-B14F-4D97-AF65-F5344CB8AC3E}">
        <p14:creationId xmlns:p14="http://schemas.microsoft.com/office/powerpoint/2010/main" val="3874554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AFE23C-FE6D-D302-B568-5C21ADA55F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C88B66-31FD-7788-4B9C-472A8F7F11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4F11FD-3B2A-2CA3-19E8-C2A31BC34A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187BD9-779F-49EA-87D9-933EBBF029A6}" type="datetimeFigureOut">
              <a:rPr lang="en-US" smtClean="0"/>
              <a:t>2/12/2026</a:t>
            </a:fld>
            <a:endParaRPr lang="en-US"/>
          </a:p>
        </p:txBody>
      </p:sp>
      <p:sp>
        <p:nvSpPr>
          <p:cNvPr id="5" name="Footer Placeholder 4">
            <a:extLst>
              <a:ext uri="{FF2B5EF4-FFF2-40B4-BE49-F238E27FC236}">
                <a16:creationId xmlns:a16="http://schemas.microsoft.com/office/drawing/2014/main" id="{C00EDA88-4CE1-5E06-BC55-98E1CADA8F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6D4F8FC-18CA-F3B5-ED13-6411F67987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E92E3E5-2D1C-468D-B907-F54467B73A74}" type="slidenum">
              <a:rPr lang="en-US" smtClean="0"/>
              <a:t>‹#›</a:t>
            </a:fld>
            <a:endParaRPr lang="en-US"/>
          </a:p>
        </p:txBody>
      </p:sp>
    </p:spTree>
    <p:extLst>
      <p:ext uri="{BB962C8B-B14F-4D97-AF65-F5344CB8AC3E}">
        <p14:creationId xmlns:p14="http://schemas.microsoft.com/office/powerpoint/2010/main" val="3847970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pavansubhasht/ibm-hr-analytics-attrition-datase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A3BD4-B4CF-695D-C215-4B31FD9A20D3}"/>
              </a:ext>
            </a:extLst>
          </p:cNvPr>
          <p:cNvSpPr>
            <a:spLocks noGrp="1"/>
          </p:cNvSpPr>
          <p:nvPr>
            <p:ph type="ctrTitle"/>
          </p:nvPr>
        </p:nvSpPr>
        <p:spPr/>
        <p:txBody>
          <a:bodyPr/>
          <a:lstStyle/>
          <a:p>
            <a:r>
              <a:rPr lang="en-US" dirty="0"/>
              <a:t>Why Do Good People Leave?</a:t>
            </a:r>
          </a:p>
        </p:txBody>
      </p:sp>
      <p:sp>
        <p:nvSpPr>
          <p:cNvPr id="3" name="Subtitle 2">
            <a:extLst>
              <a:ext uri="{FF2B5EF4-FFF2-40B4-BE49-F238E27FC236}">
                <a16:creationId xmlns:a16="http://schemas.microsoft.com/office/drawing/2014/main" id="{7EB5EC6C-874A-2A4C-1611-B1B8C2190DC3}"/>
              </a:ext>
            </a:extLst>
          </p:cNvPr>
          <p:cNvSpPr>
            <a:spLocks noGrp="1"/>
          </p:cNvSpPr>
          <p:nvPr>
            <p:ph type="subTitle" idx="1"/>
          </p:nvPr>
        </p:nvSpPr>
        <p:spPr/>
        <p:txBody>
          <a:bodyPr/>
          <a:lstStyle/>
          <a:p>
            <a:r>
              <a:rPr lang="en-US" dirty="0"/>
              <a:t>Alex Spence</a:t>
            </a:r>
          </a:p>
          <a:p>
            <a:r>
              <a:rPr lang="en-US" dirty="0"/>
              <a:t>DSC 680 Project 2</a:t>
            </a:r>
          </a:p>
        </p:txBody>
      </p:sp>
    </p:spTree>
    <p:extLst>
      <p:ext uri="{BB962C8B-B14F-4D97-AF65-F5344CB8AC3E}">
        <p14:creationId xmlns:p14="http://schemas.microsoft.com/office/powerpoint/2010/main" val="457349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6A2C6-F6BB-FC0B-689E-178852F3F49E}"/>
              </a:ext>
            </a:extLst>
          </p:cNvPr>
          <p:cNvSpPr>
            <a:spLocks noGrp="1"/>
          </p:cNvSpPr>
          <p:nvPr>
            <p:ph type="title"/>
          </p:nvPr>
        </p:nvSpPr>
        <p:spPr/>
        <p:txBody>
          <a:bodyPr/>
          <a:lstStyle/>
          <a:p>
            <a:r>
              <a:rPr lang="en-US" dirty="0"/>
              <a:t>Business Problem</a:t>
            </a:r>
          </a:p>
        </p:txBody>
      </p:sp>
      <p:sp>
        <p:nvSpPr>
          <p:cNvPr id="3" name="Content Placeholder 2">
            <a:extLst>
              <a:ext uri="{FF2B5EF4-FFF2-40B4-BE49-F238E27FC236}">
                <a16:creationId xmlns:a16="http://schemas.microsoft.com/office/drawing/2014/main" id="{B08FD2A5-4967-B20A-EA3D-2F5E20E1031C}"/>
              </a:ext>
            </a:extLst>
          </p:cNvPr>
          <p:cNvSpPr>
            <a:spLocks noGrp="1"/>
          </p:cNvSpPr>
          <p:nvPr>
            <p:ph idx="1"/>
          </p:nvPr>
        </p:nvSpPr>
        <p:spPr/>
        <p:txBody>
          <a:bodyPr/>
          <a:lstStyle/>
          <a:p>
            <a:r>
              <a:rPr lang="en-US" dirty="0">
                <a:effectLst/>
              </a:rPr>
              <a:t>High turnover is expensive: 50–200% of salary per replacement</a:t>
            </a:r>
          </a:p>
          <a:p>
            <a:r>
              <a:rPr lang="en-US" dirty="0">
                <a:effectLst/>
              </a:rPr>
              <a:t>Lost knowledge, lower morale, productivity dips</a:t>
            </a:r>
          </a:p>
          <a:p>
            <a:r>
              <a:rPr lang="en-US" dirty="0">
                <a:effectLst/>
              </a:rPr>
              <a:t>Goal: Flag at-risk employees early so HR/managers can intervene (career talks, pay reviews, workload adjustments)</a:t>
            </a:r>
          </a:p>
          <a:p>
            <a:endParaRPr lang="en-US" dirty="0"/>
          </a:p>
        </p:txBody>
      </p:sp>
    </p:spTree>
    <p:extLst>
      <p:ext uri="{BB962C8B-B14F-4D97-AF65-F5344CB8AC3E}">
        <p14:creationId xmlns:p14="http://schemas.microsoft.com/office/powerpoint/2010/main" val="3112798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06840-4970-FEE6-1575-CCAF993B6382}"/>
              </a:ext>
            </a:extLst>
          </p:cNvPr>
          <p:cNvSpPr>
            <a:spLocks noGrp="1"/>
          </p:cNvSpPr>
          <p:nvPr>
            <p:ph type="title"/>
          </p:nvPr>
        </p:nvSpPr>
        <p:spPr/>
        <p:txBody>
          <a:bodyPr/>
          <a:lstStyle/>
          <a:p>
            <a:r>
              <a:rPr lang="en-US" dirty="0">
                <a:effectLst/>
              </a:rPr>
              <a:t>Data &amp; Prep</a:t>
            </a:r>
            <a:endParaRPr lang="en-US" dirty="0"/>
          </a:p>
        </p:txBody>
      </p:sp>
      <p:sp>
        <p:nvSpPr>
          <p:cNvPr id="3" name="Content Placeholder 2">
            <a:extLst>
              <a:ext uri="{FF2B5EF4-FFF2-40B4-BE49-F238E27FC236}">
                <a16:creationId xmlns:a16="http://schemas.microsoft.com/office/drawing/2014/main" id="{D6493408-97ED-9F13-10EE-60BF0F8E1C20}"/>
              </a:ext>
            </a:extLst>
          </p:cNvPr>
          <p:cNvSpPr>
            <a:spLocks noGrp="1"/>
          </p:cNvSpPr>
          <p:nvPr>
            <p:ph idx="1"/>
          </p:nvPr>
        </p:nvSpPr>
        <p:spPr/>
        <p:txBody>
          <a:bodyPr/>
          <a:lstStyle/>
          <a:p>
            <a:r>
              <a:rPr lang="sv-SE" dirty="0">
                <a:effectLst/>
              </a:rPr>
              <a:t>IBM HR Analytics Attrition dataset (Kaggle)</a:t>
            </a:r>
          </a:p>
          <a:p>
            <a:pPr lvl="1"/>
            <a:r>
              <a:rPr lang="en-US" u="sng" dirty="0">
                <a:hlinkClick r:id="rId3"/>
              </a:rPr>
              <a:t>https://www.kaggle.com/datasets/pavansubhasht/ibm-hr-analytics-attrition-dataset</a:t>
            </a:r>
            <a:endParaRPr lang="en-US" u="sng" dirty="0"/>
          </a:p>
          <a:p>
            <a:r>
              <a:rPr lang="en-US" dirty="0">
                <a:effectLst/>
              </a:rPr>
              <a:t>1,470 employee records, 35 original features</a:t>
            </a:r>
          </a:p>
          <a:p>
            <a:r>
              <a:rPr lang="en-US" dirty="0">
                <a:effectLst/>
              </a:rPr>
              <a:t>Key steps: encoded </a:t>
            </a:r>
            <a:r>
              <a:rPr lang="en-US" dirty="0" err="1">
                <a:effectLst/>
              </a:rPr>
              <a:t>categoricals</a:t>
            </a:r>
            <a:r>
              <a:rPr lang="en-US" dirty="0">
                <a:effectLst/>
              </a:rPr>
              <a:t>, created satisfaction average &amp; income-to-tenure ratio</a:t>
            </a:r>
          </a:p>
          <a:p>
            <a:r>
              <a:rPr lang="en-US" dirty="0">
                <a:effectLst/>
              </a:rPr>
              <a:t>Target: Attrition (Yes/No – 16.1% Yes)</a:t>
            </a:r>
          </a:p>
          <a:p>
            <a:endParaRPr lang="sv-SE" dirty="0">
              <a:effectLst/>
            </a:endParaRPr>
          </a:p>
          <a:p>
            <a:endParaRPr lang="en-US" dirty="0"/>
          </a:p>
        </p:txBody>
      </p:sp>
    </p:spTree>
    <p:extLst>
      <p:ext uri="{BB962C8B-B14F-4D97-AF65-F5344CB8AC3E}">
        <p14:creationId xmlns:p14="http://schemas.microsoft.com/office/powerpoint/2010/main" val="3146955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DE56E-6895-7035-BF70-EC3F3BC53A73}"/>
              </a:ext>
            </a:extLst>
          </p:cNvPr>
          <p:cNvSpPr>
            <a:spLocks noGrp="1"/>
          </p:cNvSpPr>
          <p:nvPr>
            <p:ph type="title"/>
          </p:nvPr>
        </p:nvSpPr>
        <p:spPr/>
        <p:txBody>
          <a:bodyPr/>
          <a:lstStyle/>
          <a:p>
            <a:r>
              <a:rPr lang="en-US" dirty="0">
                <a:effectLst/>
              </a:rPr>
              <a:t>Methods</a:t>
            </a:r>
            <a:endParaRPr lang="en-US" dirty="0"/>
          </a:p>
        </p:txBody>
      </p:sp>
      <p:sp>
        <p:nvSpPr>
          <p:cNvPr id="3" name="Content Placeholder 2">
            <a:extLst>
              <a:ext uri="{FF2B5EF4-FFF2-40B4-BE49-F238E27FC236}">
                <a16:creationId xmlns:a16="http://schemas.microsoft.com/office/drawing/2014/main" id="{5F7AF5E4-1C9F-62CC-26B0-413B5F8CB9C9}"/>
              </a:ext>
            </a:extLst>
          </p:cNvPr>
          <p:cNvSpPr>
            <a:spLocks noGrp="1"/>
          </p:cNvSpPr>
          <p:nvPr>
            <p:ph idx="1"/>
          </p:nvPr>
        </p:nvSpPr>
        <p:spPr/>
        <p:txBody>
          <a:bodyPr/>
          <a:lstStyle/>
          <a:p>
            <a:r>
              <a:rPr lang="en-US" dirty="0">
                <a:effectLst/>
              </a:rPr>
              <a:t>80/20 train/test split (stratified)</a:t>
            </a:r>
          </a:p>
          <a:p>
            <a:r>
              <a:rPr lang="en-US" dirty="0">
                <a:effectLst/>
              </a:rPr>
              <a:t>Baseline: logistic regression</a:t>
            </a:r>
          </a:p>
          <a:p>
            <a:r>
              <a:rPr lang="en-US" dirty="0">
                <a:effectLst/>
              </a:rPr>
              <a:t>Main model: </a:t>
            </a:r>
            <a:r>
              <a:rPr lang="en-US" dirty="0" err="1">
                <a:effectLst/>
              </a:rPr>
              <a:t>XGBoost</a:t>
            </a:r>
            <a:r>
              <a:rPr lang="en-US" dirty="0">
                <a:effectLst/>
              </a:rPr>
              <a:t> with class weighting</a:t>
            </a:r>
          </a:p>
          <a:p>
            <a:r>
              <a:rPr lang="en-US" dirty="0">
                <a:effectLst/>
              </a:rPr>
              <a:t>Tuned with cross-validation</a:t>
            </a:r>
          </a:p>
          <a:p>
            <a:r>
              <a:rPr lang="en-US" dirty="0">
                <a:effectLst/>
              </a:rPr>
              <a:t>Focused on AUC-ROC + interpretability via SHAP</a:t>
            </a:r>
          </a:p>
          <a:p>
            <a:endParaRPr lang="en-US" dirty="0"/>
          </a:p>
        </p:txBody>
      </p:sp>
    </p:spTree>
    <p:extLst>
      <p:ext uri="{BB962C8B-B14F-4D97-AF65-F5344CB8AC3E}">
        <p14:creationId xmlns:p14="http://schemas.microsoft.com/office/powerpoint/2010/main" val="1102239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51E2C-2655-2851-D45A-93AFADF9B7BC}"/>
              </a:ext>
            </a:extLst>
          </p:cNvPr>
          <p:cNvSpPr>
            <a:spLocks noGrp="1"/>
          </p:cNvSpPr>
          <p:nvPr>
            <p:ph type="title"/>
          </p:nvPr>
        </p:nvSpPr>
        <p:spPr/>
        <p:txBody>
          <a:bodyPr/>
          <a:lstStyle/>
          <a:p>
            <a:r>
              <a:rPr lang="en-US" dirty="0">
                <a:effectLst/>
              </a:rPr>
              <a:t>Results &amp; Figures</a:t>
            </a:r>
            <a:br>
              <a:rPr lang="en-US" dirty="0">
                <a:effectLst/>
              </a:rPr>
            </a:br>
            <a:endParaRPr lang="en-US" dirty="0"/>
          </a:p>
        </p:txBody>
      </p:sp>
      <p:sp>
        <p:nvSpPr>
          <p:cNvPr id="3" name="Content Placeholder 2">
            <a:extLst>
              <a:ext uri="{FF2B5EF4-FFF2-40B4-BE49-F238E27FC236}">
                <a16:creationId xmlns:a16="http://schemas.microsoft.com/office/drawing/2014/main" id="{B3769BAE-879F-2BC6-3B56-3699C71A88FA}"/>
              </a:ext>
            </a:extLst>
          </p:cNvPr>
          <p:cNvSpPr>
            <a:spLocks noGrp="1"/>
          </p:cNvSpPr>
          <p:nvPr>
            <p:ph idx="1"/>
          </p:nvPr>
        </p:nvSpPr>
        <p:spPr/>
        <p:txBody>
          <a:bodyPr/>
          <a:lstStyle/>
          <a:p>
            <a:r>
              <a:rPr lang="en-US" dirty="0">
                <a:effectLst/>
              </a:rPr>
              <a:t>AUC-ROC: 0.791 </a:t>
            </a:r>
          </a:p>
          <a:p>
            <a:r>
              <a:rPr lang="en-US" dirty="0">
                <a:effectLst/>
              </a:rPr>
              <a:t>Top drivers:</a:t>
            </a:r>
          </a:p>
          <a:p>
            <a:endParaRPr lang="en-US" dirty="0"/>
          </a:p>
        </p:txBody>
      </p:sp>
      <p:pic>
        <p:nvPicPr>
          <p:cNvPr id="4" name="Picture 3">
            <a:extLst>
              <a:ext uri="{FF2B5EF4-FFF2-40B4-BE49-F238E27FC236}">
                <a16:creationId xmlns:a16="http://schemas.microsoft.com/office/drawing/2014/main" id="{7CD363EA-33F7-36C5-451D-6195718A427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4600" y="3152299"/>
            <a:ext cx="7467600" cy="3526790"/>
          </a:xfrm>
          <a:prstGeom prst="rect">
            <a:avLst/>
          </a:prstGeom>
          <a:noFill/>
          <a:ln>
            <a:noFill/>
          </a:ln>
        </p:spPr>
      </p:pic>
    </p:spTree>
    <p:extLst>
      <p:ext uri="{BB962C8B-B14F-4D97-AF65-F5344CB8AC3E}">
        <p14:creationId xmlns:p14="http://schemas.microsoft.com/office/powerpoint/2010/main" val="1010278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D020F-3B17-B5D5-4D4E-6CE8EA0363D9}"/>
              </a:ext>
            </a:extLst>
          </p:cNvPr>
          <p:cNvSpPr>
            <a:spLocks noGrp="1"/>
          </p:cNvSpPr>
          <p:nvPr>
            <p:ph type="title"/>
          </p:nvPr>
        </p:nvSpPr>
        <p:spPr/>
        <p:txBody>
          <a:bodyPr/>
          <a:lstStyle/>
          <a:p>
            <a:r>
              <a:rPr lang="en-US" dirty="0"/>
              <a:t>Results &amp; Figures</a:t>
            </a:r>
          </a:p>
        </p:txBody>
      </p:sp>
      <p:sp>
        <p:nvSpPr>
          <p:cNvPr id="3" name="Content Placeholder 2">
            <a:extLst>
              <a:ext uri="{FF2B5EF4-FFF2-40B4-BE49-F238E27FC236}">
                <a16:creationId xmlns:a16="http://schemas.microsoft.com/office/drawing/2014/main" id="{88679379-0D0C-831C-0416-60B09A549297}"/>
              </a:ext>
            </a:extLst>
          </p:cNvPr>
          <p:cNvSpPr>
            <a:spLocks noGrp="1"/>
          </p:cNvSpPr>
          <p:nvPr>
            <p:ph idx="1"/>
          </p:nvPr>
        </p:nvSpPr>
        <p:spPr>
          <a:xfrm>
            <a:off x="838200" y="1825625"/>
            <a:ext cx="5953125" cy="4351338"/>
          </a:xfrm>
        </p:spPr>
        <p:txBody>
          <a:bodyPr/>
          <a:lstStyle/>
          <a:p>
            <a:r>
              <a:rPr lang="en-US" dirty="0">
                <a:effectLst/>
              </a:rPr>
              <a:t>SHAP summary confirms: overtime dramatically increases risk, higher income/satisfaction reduces it</a:t>
            </a:r>
          </a:p>
          <a:p>
            <a:r>
              <a:rPr lang="en-US" dirty="0">
                <a:effectLst/>
              </a:rPr>
              <a:t>The model finds the same things HR people already suspect, but quantifies them</a:t>
            </a:r>
          </a:p>
          <a:p>
            <a:endParaRPr lang="en-US" dirty="0"/>
          </a:p>
        </p:txBody>
      </p:sp>
      <p:pic>
        <p:nvPicPr>
          <p:cNvPr id="4" name="Picture 3">
            <a:extLst>
              <a:ext uri="{FF2B5EF4-FFF2-40B4-BE49-F238E27FC236}">
                <a16:creationId xmlns:a16="http://schemas.microsoft.com/office/drawing/2014/main" id="{11FDF360-66CF-BEB4-3895-86E6AC53D8B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91325" y="365125"/>
            <a:ext cx="5400675" cy="6568440"/>
          </a:xfrm>
          <a:prstGeom prst="rect">
            <a:avLst/>
          </a:prstGeom>
          <a:noFill/>
          <a:ln>
            <a:noFill/>
          </a:ln>
        </p:spPr>
      </p:pic>
    </p:spTree>
    <p:extLst>
      <p:ext uri="{BB962C8B-B14F-4D97-AF65-F5344CB8AC3E}">
        <p14:creationId xmlns:p14="http://schemas.microsoft.com/office/powerpoint/2010/main" val="1029437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C1412-4DDE-BB2A-B28F-371AC7482DEA}"/>
              </a:ext>
            </a:extLst>
          </p:cNvPr>
          <p:cNvSpPr>
            <a:spLocks noGrp="1"/>
          </p:cNvSpPr>
          <p:nvPr>
            <p:ph type="title"/>
          </p:nvPr>
        </p:nvSpPr>
        <p:spPr/>
        <p:txBody>
          <a:bodyPr/>
          <a:lstStyle/>
          <a:p>
            <a:r>
              <a:rPr lang="en-US" dirty="0">
                <a:effectLst/>
              </a:rPr>
              <a:t>Deeper Insights</a:t>
            </a:r>
            <a:endParaRPr lang="en-US" dirty="0"/>
          </a:p>
        </p:txBody>
      </p:sp>
      <p:pic>
        <p:nvPicPr>
          <p:cNvPr id="4" name="Content Placeholder 3">
            <a:extLst>
              <a:ext uri="{FF2B5EF4-FFF2-40B4-BE49-F238E27FC236}">
                <a16:creationId xmlns:a16="http://schemas.microsoft.com/office/drawing/2014/main" id="{71F45E23-1D5D-22B7-A735-99DD4062366B}"/>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60427" y="1690688"/>
            <a:ext cx="5935573" cy="4202286"/>
          </a:xfrm>
          <a:prstGeom prst="rect">
            <a:avLst/>
          </a:prstGeom>
          <a:noFill/>
          <a:ln>
            <a:noFill/>
          </a:ln>
        </p:spPr>
      </p:pic>
      <p:pic>
        <p:nvPicPr>
          <p:cNvPr id="5" name="Picture 4">
            <a:extLst>
              <a:ext uri="{FF2B5EF4-FFF2-40B4-BE49-F238E27FC236}">
                <a16:creationId xmlns:a16="http://schemas.microsoft.com/office/drawing/2014/main" id="{FB9FE6F6-34CD-C398-605F-857AC914F80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87973" y="2025896"/>
            <a:ext cx="5943600" cy="3531870"/>
          </a:xfrm>
          <a:prstGeom prst="rect">
            <a:avLst/>
          </a:prstGeom>
          <a:noFill/>
          <a:ln>
            <a:noFill/>
          </a:ln>
        </p:spPr>
      </p:pic>
    </p:spTree>
    <p:extLst>
      <p:ext uri="{BB962C8B-B14F-4D97-AF65-F5344CB8AC3E}">
        <p14:creationId xmlns:p14="http://schemas.microsoft.com/office/powerpoint/2010/main" val="752684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90398-FD6C-AFEA-BE76-49F14721EA83}"/>
              </a:ext>
            </a:extLst>
          </p:cNvPr>
          <p:cNvSpPr>
            <a:spLocks noGrp="1"/>
          </p:cNvSpPr>
          <p:nvPr>
            <p:ph type="title"/>
          </p:nvPr>
        </p:nvSpPr>
        <p:spPr/>
        <p:txBody>
          <a:bodyPr/>
          <a:lstStyle/>
          <a:p>
            <a:r>
              <a:rPr lang="en-US" dirty="0">
                <a:effectLst/>
              </a:rPr>
              <a:t>Practical Tool</a:t>
            </a:r>
            <a:endParaRPr lang="en-US" dirty="0"/>
          </a:p>
        </p:txBody>
      </p:sp>
      <p:pic>
        <p:nvPicPr>
          <p:cNvPr id="4" name="Content Placeholder 3">
            <a:extLst>
              <a:ext uri="{FF2B5EF4-FFF2-40B4-BE49-F238E27FC236}">
                <a16:creationId xmlns:a16="http://schemas.microsoft.com/office/drawing/2014/main" id="{9612C9CC-EA4E-C467-3070-FE07CB1A86E8}"/>
              </a:ext>
            </a:extLst>
          </p:cNvPr>
          <p:cNvPicPr>
            <a:picLocks noGrp="1" noChangeAspect="1"/>
          </p:cNvPicPr>
          <p:nvPr>
            <p:ph idx="1"/>
          </p:nvPr>
        </p:nvPicPr>
        <p:blipFill>
          <a:blip r:embed="rId3"/>
          <a:stretch>
            <a:fillRect/>
          </a:stretch>
        </p:blipFill>
        <p:spPr>
          <a:xfrm>
            <a:off x="3280428" y="1825625"/>
            <a:ext cx="5631143" cy="4351338"/>
          </a:xfrm>
          <a:prstGeom prst="rect">
            <a:avLst/>
          </a:prstGeom>
        </p:spPr>
      </p:pic>
    </p:spTree>
    <p:extLst>
      <p:ext uri="{BB962C8B-B14F-4D97-AF65-F5344CB8AC3E}">
        <p14:creationId xmlns:p14="http://schemas.microsoft.com/office/powerpoint/2010/main" val="3729986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DE7B3-F414-EF33-BA71-DE86922FF0E9}"/>
              </a:ext>
            </a:extLst>
          </p:cNvPr>
          <p:cNvSpPr>
            <a:spLocks noGrp="1"/>
          </p:cNvSpPr>
          <p:nvPr>
            <p:ph type="title"/>
          </p:nvPr>
        </p:nvSpPr>
        <p:spPr/>
        <p:txBody>
          <a:bodyPr/>
          <a:lstStyle/>
          <a:p>
            <a:r>
              <a:rPr lang="en-US" dirty="0">
                <a:effectLst/>
              </a:rPr>
              <a:t>Recommendations</a:t>
            </a:r>
            <a:endParaRPr lang="en-US" dirty="0"/>
          </a:p>
        </p:txBody>
      </p:sp>
      <p:sp>
        <p:nvSpPr>
          <p:cNvPr id="3" name="Content Placeholder 2">
            <a:extLst>
              <a:ext uri="{FF2B5EF4-FFF2-40B4-BE49-F238E27FC236}">
                <a16:creationId xmlns:a16="http://schemas.microsoft.com/office/drawing/2014/main" id="{F087C362-C5AB-F5B9-A925-88C2954726F9}"/>
              </a:ext>
            </a:extLst>
          </p:cNvPr>
          <p:cNvSpPr>
            <a:spLocks noGrp="1"/>
          </p:cNvSpPr>
          <p:nvPr>
            <p:ph idx="1"/>
          </p:nvPr>
        </p:nvSpPr>
        <p:spPr/>
        <p:txBody>
          <a:bodyPr/>
          <a:lstStyle/>
          <a:p>
            <a:r>
              <a:rPr lang="en-US" dirty="0">
                <a:effectLst/>
              </a:rPr>
              <a:t>Prioritize manager 1:1s for overtime + low satisfaction employees</a:t>
            </a:r>
          </a:p>
          <a:p>
            <a:r>
              <a:rPr lang="en-US" dirty="0">
                <a:effectLst/>
              </a:rPr>
              <a:t>Review promotion cycles – waits &gt;2–3 years increase risk</a:t>
            </a:r>
          </a:p>
          <a:p>
            <a:r>
              <a:rPr lang="en-US" dirty="0">
                <a:effectLst/>
              </a:rPr>
              <a:t>Explore flexible work for long-commute employees</a:t>
            </a:r>
          </a:p>
          <a:p>
            <a:endParaRPr lang="en-US" dirty="0"/>
          </a:p>
        </p:txBody>
      </p:sp>
    </p:spTree>
    <p:extLst>
      <p:ext uri="{BB962C8B-B14F-4D97-AF65-F5344CB8AC3E}">
        <p14:creationId xmlns:p14="http://schemas.microsoft.com/office/powerpoint/2010/main" val="2327174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2351D-8684-A66C-D814-F3BB64C2EF2F}"/>
              </a:ext>
            </a:extLst>
          </p:cNvPr>
          <p:cNvSpPr>
            <a:spLocks noGrp="1"/>
          </p:cNvSpPr>
          <p:nvPr>
            <p:ph type="title"/>
          </p:nvPr>
        </p:nvSpPr>
        <p:spPr/>
        <p:txBody>
          <a:bodyPr/>
          <a:lstStyle/>
          <a:p>
            <a:r>
              <a:rPr lang="en-US" dirty="0"/>
              <a:t>Closing</a:t>
            </a:r>
          </a:p>
        </p:txBody>
      </p:sp>
      <p:sp>
        <p:nvSpPr>
          <p:cNvPr id="3" name="Content Placeholder 2">
            <a:extLst>
              <a:ext uri="{FF2B5EF4-FFF2-40B4-BE49-F238E27FC236}">
                <a16:creationId xmlns:a16="http://schemas.microsoft.com/office/drawing/2014/main" id="{7C5F98E1-B975-83FA-AD8C-B8378D6BE27B}"/>
              </a:ext>
            </a:extLst>
          </p:cNvPr>
          <p:cNvSpPr>
            <a:spLocks noGrp="1"/>
          </p:cNvSpPr>
          <p:nvPr>
            <p:ph idx="1"/>
          </p:nvPr>
        </p:nvSpPr>
        <p:spPr/>
        <p:txBody>
          <a:bodyPr/>
          <a:lstStyle/>
          <a:p>
            <a:r>
              <a:rPr lang="en-US" dirty="0">
                <a:effectLst/>
              </a:rPr>
              <a:t>Learned: interpretability matters as much as accuracy in HR use cases</a:t>
            </a:r>
          </a:p>
          <a:p>
            <a:r>
              <a:rPr lang="en-US" dirty="0">
                <a:effectLst/>
              </a:rPr>
              <a:t>Next: test on real company data, add engagement survey trends</a:t>
            </a:r>
          </a:p>
          <a:p>
            <a:r>
              <a:rPr lang="en-US" dirty="0"/>
              <a:t>Thanks for watching!</a:t>
            </a:r>
          </a:p>
        </p:txBody>
      </p:sp>
    </p:spTree>
    <p:extLst>
      <p:ext uri="{BB962C8B-B14F-4D97-AF65-F5344CB8AC3E}">
        <p14:creationId xmlns:p14="http://schemas.microsoft.com/office/powerpoint/2010/main" val="885683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1093</Words>
  <Application>Microsoft Office PowerPoint</Application>
  <PresentationFormat>Widescreen</PresentationFormat>
  <Paragraphs>56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Why Do Good People Leave?</vt:lpstr>
      <vt:lpstr>Business Problem</vt:lpstr>
      <vt:lpstr>Data &amp; Prep</vt:lpstr>
      <vt:lpstr>Methods</vt:lpstr>
      <vt:lpstr>Results &amp; Figures </vt:lpstr>
      <vt:lpstr>Results &amp; Figures</vt:lpstr>
      <vt:lpstr>Deeper Insights</vt:lpstr>
      <vt:lpstr>Practical Tool</vt:lpstr>
      <vt:lpstr>Recommendations</vt:lpstr>
      <vt:lpstr>Closing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spence</dc:creator>
  <cp:lastModifiedBy>alex spence</cp:lastModifiedBy>
  <cp:revision>1</cp:revision>
  <dcterms:created xsi:type="dcterms:W3CDTF">2026-02-12T11:59:31Z</dcterms:created>
  <dcterms:modified xsi:type="dcterms:W3CDTF">2026-02-12T12:35:42Z</dcterms:modified>
</cp:coreProperties>
</file>