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4" autoAdjust="0"/>
    <p:restoredTop sz="94660"/>
  </p:normalViewPr>
  <p:slideViewPr>
    <p:cSldViewPr snapToGrid="0">
      <p:cViewPr varScale="1">
        <p:scale>
          <a:sx n="50" d="100"/>
          <a:sy n="50" d="100"/>
        </p:scale>
        <p:origin x="48" y="7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BBAEAC-9A5D-0ABC-1E23-68A1C5ADDA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FBDF791-016E-034A-FE74-E87301F403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F0E8AB-2D7C-7400-412D-2C70030135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B2AAD-CEA0-4CA8-8398-C37F4627CBDC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828B33-EBB8-6D50-B31E-9CB98B782D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96126A-7291-27DE-2526-260D8B89B9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F3F89B-6C47-4F74-9A2D-7ED739CCEF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21273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2009B9-D8B1-8590-EE41-7F8B165E84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4A2C1D-8DE6-01B5-9DAE-03D464853D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243382-C946-A697-ADD9-A72FF1DA00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B2AAD-CEA0-4CA8-8398-C37F4627CBDC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A67334-D0DD-CBEF-C48B-3146FB977D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58D144-6E5D-019C-CB60-11561CD6BA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F3F89B-6C47-4F74-9A2D-7ED739CCEF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24144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496511-2073-4091-25AA-F67C206E0C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E616D2-BECF-4100-2585-D3F025A74E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EFB294-5A85-FF69-5378-6BD8715441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B2AAD-CEA0-4CA8-8398-C37F4627CBDC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C6D74D-034E-5178-AAA2-F73906A2AF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E3033F-3A2C-8C73-B2E3-AF60443CFA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F3F89B-6C47-4F74-9A2D-7ED739CCEF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79214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1BC48A-2FC3-F427-10E9-818958160A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058075-E0FB-0D77-975E-B0CEBE26BF6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0B8AF0-A361-D067-39D1-D27BEFA482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FF2B2B-E12F-64B8-A81A-BE2CDDD8FD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B2AAD-CEA0-4CA8-8398-C37F4627CBDC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AD7F44-70BD-9C17-C2DC-5604935C22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3FB992-2CCC-1167-D6AF-38980194B5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F3F89B-6C47-4F74-9A2D-7ED739CCEF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21563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C6B3C1-38AD-7EE8-8FE6-9BBE3B111E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4C5E5F-4E2C-6637-372E-1925A9DEA1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67643C-FE1A-894F-3ADE-1A6AF8CB91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652FD3B-107E-B4E4-5905-DF053C4511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104D165-EC26-973B-0767-C9159193EB8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F659188-E652-F25C-0768-A99231B197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B2AAD-CEA0-4CA8-8398-C37F4627CBDC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A44CCD4-38C1-65D6-EC53-5190D4E95F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A7C3364-EE4E-E872-5F6B-05C480D162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F3F89B-6C47-4F74-9A2D-7ED739CCEF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12985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1D3320-9E04-3D6F-3971-328C8F4902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6ACF338-4433-8EE3-1ED3-992D647396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B2AAD-CEA0-4CA8-8398-C37F4627CBDC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D00707-28CB-CA42-B3F3-D8F23FEE34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F777E7-CA63-D3CF-8DFD-03C5AFFCF0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F3F89B-6C47-4F74-9A2D-7ED739CCEF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18608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7EE9DF9-D49B-DCE9-F101-6AEBEC9736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B2AAD-CEA0-4CA8-8398-C37F4627CBDC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5576DB7-469E-4F43-1A99-B85626B46F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6A435F-E155-AE49-2578-1423238195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F3F89B-6C47-4F74-9A2D-7ED739CCEF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74387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A9A8EA-6700-89D5-47C6-9A2FAF8C0D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A01EEF-0674-49E9-172B-F26D530560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A92503A-72FB-FDB8-7DC6-F182258536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F401D5-D261-546D-B8A2-4A5E0CA073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B2AAD-CEA0-4CA8-8398-C37F4627CBDC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FDCD7C-D4C9-279C-DE34-B7DF27B6AB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E55B38-6C08-4585-1175-38AD04D0F6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F3F89B-6C47-4F74-9A2D-7ED739CCEF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86577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3CC2C6-2B20-838E-55B4-B769D1554A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99C917E-A224-3724-AD3F-EDBA188418D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CFA815-F5A0-ACEB-F1A7-0EBF370D7B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E0DEE4-AFE2-C681-370B-7A43132F5A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B2AAD-CEA0-4CA8-8398-C37F4627CBDC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CF1E08-E02F-DCCF-B7B8-F4D4F394E8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D14BEC-71B6-0DCF-DAE4-A8D36F25B7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F3F89B-6C47-4F74-9A2D-7ED739CCEF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54189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2C51F0-D448-5A9E-F7FC-75A3F6600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E60DB7-E614-613F-67E9-82BF974A04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D48993-A928-47BE-8D31-3793A1AE9C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B2AAD-CEA0-4CA8-8398-C37F4627CBDC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3A3957-AB93-4612-22CF-16D0FFEFEB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00BB6C-3931-C465-B68C-26419224A6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F3F89B-6C47-4F74-9A2D-7ED739CCEF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84995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C70FEF8-6E27-934A-49C1-1E95EED5E2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1695ABA-8AE8-92C7-51F1-DBAEF68EFD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B6BF2A-FA7E-4086-24FD-97BC668107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B2AAD-CEA0-4CA8-8398-C37F4627CBDC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38A3DD-4C25-63CE-45B4-3A8A3BC534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F34CA6-EBE5-7222-BFE6-89BBC5D2F6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F3F89B-6C47-4F74-9A2D-7ED739CCEF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26579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C5359FD-5980-90DF-5FD4-EF9EDEACCC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08C227-F926-A5E3-AAD5-4EB9F79A8F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0322B6-DD5D-EA0E-7777-0B163A90C7F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1EB2AAD-CEA0-4CA8-8398-C37F4627CBDC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E342C5-7433-5D74-A2FF-15C1080CDBA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89CA82-16FC-33D1-5944-EE5B58B640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0F3F89B-6C47-4F74-9A2D-7ED739CCEF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45131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D2E557-8B9D-BCC8-0B18-BA59D4DD9DC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effectLst/>
              </a:rPr>
              <a:t>Predicting Loan Defaults for Smarter Lending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4DAF054-2651-FDD9-E849-963C8574DDB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Alex Spence</a:t>
            </a:r>
          </a:p>
          <a:p>
            <a:r>
              <a:rPr lang="en-US" dirty="0"/>
              <a:t>DSC 630</a:t>
            </a:r>
          </a:p>
          <a:p>
            <a:r>
              <a:rPr lang="en-US" dirty="0"/>
              <a:t>11/17/2025</a:t>
            </a:r>
          </a:p>
        </p:txBody>
      </p:sp>
    </p:spTree>
    <p:extLst>
      <p:ext uri="{BB962C8B-B14F-4D97-AF65-F5344CB8AC3E}">
        <p14:creationId xmlns:p14="http://schemas.microsoft.com/office/powerpoint/2010/main" val="38451782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EB5CD1-CFE7-9196-D0C4-1DF3451C22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ffectLst/>
              </a:rPr>
              <a:t>Introduction: Why This Matters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003366-FCE9-CE05-CDDB-EC423BA96F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Problem: Loan defaults cost billions, linked to 2008 crisis</a:t>
            </a:r>
          </a:p>
          <a:p>
            <a:r>
              <a:rPr lang="en-US" dirty="0"/>
              <a:t>Goal: Predict defaults to reduce lender risk</a:t>
            </a:r>
          </a:p>
          <a:p>
            <a:r>
              <a:rPr lang="en-US" dirty="0"/>
              <a:t>Audience: Banks, </a:t>
            </a:r>
            <a:r>
              <a:rPr lang="en-US" dirty="0" err="1"/>
              <a:t>fintechs</a:t>
            </a:r>
            <a:r>
              <a:rPr lang="en-US" dirty="0"/>
              <a:t>, regulators</a:t>
            </a:r>
          </a:p>
          <a:p>
            <a:endParaRPr lang="en-US" dirty="0"/>
          </a:p>
          <a:p>
            <a:r>
              <a:rPr lang="en-US" dirty="0"/>
              <a:t> My family felt the 2008 crash—let’s prevent that for future generations!</a:t>
            </a:r>
          </a:p>
        </p:txBody>
      </p:sp>
    </p:spTree>
    <p:extLst>
      <p:ext uri="{BB962C8B-B14F-4D97-AF65-F5344CB8AC3E}">
        <p14:creationId xmlns:p14="http://schemas.microsoft.com/office/powerpoint/2010/main" val="42664700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BB9D87-3730-BF00-BA0A-E2F4407707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ffectLst/>
              </a:rPr>
              <a:t>Dataset Overview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53E0A3-42BD-4217-B0E5-514EE77094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Source: Kaggle (255,347 rows, 18 features)Key Features: </a:t>
            </a:r>
            <a:r>
              <a:rPr lang="en-US" dirty="0" err="1"/>
              <a:t>CreditScore</a:t>
            </a:r>
            <a:r>
              <a:rPr lang="en-US" dirty="0"/>
              <a:t>, Income, </a:t>
            </a:r>
            <a:r>
              <a:rPr lang="en-US" dirty="0" err="1"/>
              <a:t>LoanAmount</a:t>
            </a:r>
            <a:r>
              <a:rPr lang="en-US" dirty="0"/>
              <a:t>, </a:t>
            </a:r>
            <a:r>
              <a:rPr lang="en-US" dirty="0" err="1"/>
              <a:t>DTIRatioDefault</a:t>
            </a:r>
            <a:r>
              <a:rPr lang="en-US" dirty="0"/>
              <a:t> Rate: 15% (class imbalance)Text: “No missing data, ready for analysis!”</a:t>
            </a:r>
          </a:p>
        </p:txBody>
      </p:sp>
    </p:spTree>
    <p:extLst>
      <p:ext uri="{BB962C8B-B14F-4D97-AF65-F5344CB8AC3E}">
        <p14:creationId xmlns:p14="http://schemas.microsoft.com/office/powerpoint/2010/main" val="26479215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429B1A-99BB-E3E1-04DB-4DB9FF5265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ffectLst/>
              </a:rPr>
              <a:t>Data Exploration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C154C8-1C5A-149E-2B76-1A1B30137E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effectLst/>
              </a:rPr>
              <a:t>Default Rate by Credit Score</a:t>
            </a:r>
          </a:p>
          <a:p>
            <a:r>
              <a:rPr lang="en-US" dirty="0">
                <a:effectLst/>
              </a:rPr>
              <a:t>12% default rate for </a:t>
            </a:r>
            <a:r>
              <a:rPr lang="en-US" dirty="0" err="1">
                <a:effectLst/>
              </a:rPr>
              <a:t>CreditScore</a:t>
            </a:r>
            <a:r>
              <a:rPr lang="en-US" dirty="0">
                <a:effectLst/>
              </a:rPr>
              <a:t>&lt;600</a:t>
            </a:r>
          </a:p>
          <a:p>
            <a:endParaRPr lang="en-US" dirty="0"/>
          </a:p>
          <a:p>
            <a:endParaRPr lang="en-US" dirty="0">
              <a:effectLst/>
            </a:endParaRPr>
          </a:p>
        </p:txBody>
      </p:sp>
      <p:pic>
        <p:nvPicPr>
          <p:cNvPr id="4" name="Picture 3" descr="A graph of a bar graph&#10;&#10;AI-generated content may be incorrect.">
            <a:extLst>
              <a:ext uri="{FF2B5EF4-FFF2-40B4-BE49-F238E27FC236}">
                <a16:creationId xmlns:a16="http://schemas.microsoft.com/office/drawing/2014/main" id="{7F85B6AB-2776-2892-923A-C27FCAA339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4200" y="2819400"/>
            <a:ext cx="5943600" cy="38449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236451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E02F87-D8EC-8537-7C3B-088E34C536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ffectLst/>
              </a:rPr>
              <a:t>Data Exploration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27DC15-54F4-7C2B-F976-411AA43833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effectLst/>
              </a:rPr>
              <a:t>Defaults cluster at high </a:t>
            </a:r>
            <a:r>
              <a:rPr lang="en-US" dirty="0" err="1">
                <a:effectLst/>
              </a:rPr>
              <a:t>LoanAmount</a:t>
            </a:r>
            <a:r>
              <a:rPr lang="en-US" dirty="0">
                <a:effectLst/>
              </a:rPr>
              <a:t>, low Income</a:t>
            </a:r>
          </a:p>
        </p:txBody>
      </p:sp>
      <p:pic>
        <p:nvPicPr>
          <p:cNvPr id="5" name="Picture 4" descr="A screen shot of a graph&#10;&#10;AI-generated content may be incorrect.">
            <a:extLst>
              <a:ext uri="{FF2B5EF4-FFF2-40B4-BE49-F238E27FC236}">
                <a16:creationId xmlns:a16="http://schemas.microsoft.com/office/drawing/2014/main" id="{D95BF066-EA6B-B9DF-EB64-D78F120216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4200" y="2552699"/>
            <a:ext cx="5943600" cy="394017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0311913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FB34F2-42E7-2F43-E9D7-DC003C43AC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</a:t>
            </a:r>
            <a:r>
              <a:rPr lang="en-US" dirty="0" err="1"/>
              <a:t>Preperation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98BB80-7336-FC40-14A2-5E9269FEF5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effectLst/>
              </a:rPr>
              <a:t>Steps: Outlier capping, one-hot encoding, SMOTE, RFE</a:t>
            </a:r>
          </a:p>
          <a:p>
            <a:r>
              <a:rPr lang="en-US" dirty="0">
                <a:effectLst/>
              </a:rPr>
              <a:t>Dropped correlated features</a:t>
            </a:r>
          </a:p>
          <a:p>
            <a:endParaRPr lang="en-US" dirty="0">
              <a:effectLst/>
            </a:endParaRPr>
          </a:p>
          <a:p>
            <a:endParaRPr lang="en-US" dirty="0"/>
          </a:p>
        </p:txBody>
      </p:sp>
      <p:pic>
        <p:nvPicPr>
          <p:cNvPr id="4" name="Picture 3" descr="A graph with red squares&#10;&#10;AI-generated content may be incorrect.">
            <a:extLst>
              <a:ext uri="{FF2B5EF4-FFF2-40B4-BE49-F238E27FC236}">
                <a16:creationId xmlns:a16="http://schemas.microsoft.com/office/drawing/2014/main" id="{A6E94ED3-F9CB-A9FB-CDBF-3979D25ADC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10250" y="2449512"/>
            <a:ext cx="5943600" cy="404336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730013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3E080-7497-C177-1F37-9A04CD35F2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ffectLst/>
              </a:rPr>
              <a:t>Methods: Models and Evaluation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4DCC6E-FC28-8FE1-E6A5-62835C36FB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effectLst/>
              </a:rPr>
              <a:t>Logistic Regression, Random Forest, </a:t>
            </a:r>
            <a:r>
              <a:rPr lang="en-US" dirty="0" err="1">
                <a:effectLst/>
              </a:rPr>
              <a:t>XGBoost</a:t>
            </a:r>
            <a:endParaRPr lang="en-US" dirty="0">
              <a:effectLst/>
            </a:endParaRPr>
          </a:p>
          <a:p>
            <a:r>
              <a:rPr lang="en-US" dirty="0" err="1">
                <a:effectLst/>
              </a:rPr>
              <a:t>XGBoost</a:t>
            </a:r>
            <a:r>
              <a:rPr lang="en-US" dirty="0">
                <a:effectLst/>
              </a:rPr>
              <a:t> used cost-sensitive learning for defaults</a:t>
            </a:r>
          </a:p>
        </p:txBody>
      </p:sp>
    </p:spTree>
    <p:extLst>
      <p:ext uri="{BB962C8B-B14F-4D97-AF65-F5344CB8AC3E}">
        <p14:creationId xmlns:p14="http://schemas.microsoft.com/office/powerpoint/2010/main" val="29963650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094EB7-DACF-9063-ADCB-128889E1A9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ffectLst/>
              </a:rPr>
              <a:t>Methods: Models and Evaluation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2A5973-4EB1-795E-2FF8-EEDFE90677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effectLst/>
              </a:rPr>
              <a:t>Metrics: AUC-ROC, precision, recall, F1-score</a:t>
            </a:r>
          </a:p>
          <a:p>
            <a:r>
              <a:rPr lang="en-US" dirty="0">
                <a:effectLst/>
              </a:rPr>
              <a:t>Prioritized recall to catch defaults</a:t>
            </a:r>
          </a:p>
        </p:txBody>
      </p:sp>
    </p:spTree>
    <p:extLst>
      <p:ext uri="{BB962C8B-B14F-4D97-AF65-F5344CB8AC3E}">
        <p14:creationId xmlns:p14="http://schemas.microsoft.com/office/powerpoint/2010/main" val="40064843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DF0CA5-BF49-A05B-F0EE-539820856D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ffectLst/>
              </a:rPr>
              <a:t>Results: Model Performance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5E652A-AAD1-C2B3-3713-984CD803FF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effectLst/>
              </a:rPr>
              <a:t>Logistic Regression &amp; Random Forest</a:t>
            </a:r>
          </a:p>
          <a:p>
            <a:r>
              <a:rPr lang="en-US" dirty="0">
                <a:effectLst/>
              </a:rPr>
              <a:t>Logistic: AUC-ROC 0.75, recall 0.80; </a:t>
            </a:r>
          </a:p>
          <a:p>
            <a:r>
              <a:rPr lang="en-US" dirty="0">
                <a:effectLst/>
              </a:rPr>
              <a:t>RF: recall 0.75</a:t>
            </a:r>
          </a:p>
        </p:txBody>
      </p:sp>
      <p:pic>
        <p:nvPicPr>
          <p:cNvPr id="4" name="Picture 3" descr="A blue squares with numbers and labels&#10;&#10;AI-generated content may be incorrect.">
            <a:extLst>
              <a:ext uri="{FF2B5EF4-FFF2-40B4-BE49-F238E27FC236}">
                <a16:creationId xmlns:a16="http://schemas.microsoft.com/office/drawing/2014/main" id="{B1F51457-C485-5A51-3A7B-A281B38A03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3657600"/>
            <a:ext cx="5715000" cy="2835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 descr="A blue squares with numbers and labels&#10;&#10;AI-generated content may be incorrect.">
            <a:extLst>
              <a:ext uri="{FF2B5EF4-FFF2-40B4-BE49-F238E27FC236}">
                <a16:creationId xmlns:a16="http://schemas.microsoft.com/office/drawing/2014/main" id="{03153A44-DDE7-5F74-0AA1-59D5EA50B4A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3200399"/>
            <a:ext cx="5715000" cy="329247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0639267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237E54-4003-1DDE-619A-6DFA966AA1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ffectLst/>
              </a:rPr>
              <a:t>Results: Model Performance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E50761-FAD1-C953-A8A7-7DDD3BCAF3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>
                <a:effectLst/>
              </a:rPr>
              <a:t>XGBoost</a:t>
            </a:r>
            <a:r>
              <a:rPr lang="en-US" dirty="0">
                <a:effectLst/>
              </a:rPr>
              <a:t>: recall 0.98, but precision 0.13</a:t>
            </a:r>
          </a:p>
        </p:txBody>
      </p:sp>
      <p:pic>
        <p:nvPicPr>
          <p:cNvPr id="4" name="Picture 3" descr="A blue squares with numbers and labels&#10;&#10;AI-generated content may be incorrect.">
            <a:extLst>
              <a:ext uri="{FF2B5EF4-FFF2-40B4-BE49-F238E27FC236}">
                <a16:creationId xmlns:a16="http://schemas.microsoft.com/office/drawing/2014/main" id="{C5CCAB2F-248A-870F-8EB3-7BBE517229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05150" y="2682875"/>
            <a:ext cx="5715000" cy="3810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472790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1D6DB7-19FB-DEB9-72FC-9D05CBF366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ffectLst/>
              </a:rPr>
              <a:t>Conclusion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FC9A8D-4B24-8721-8B24-B4F90AC9FD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effectLst/>
              </a:rPr>
              <a:t>Near-perfect recall (0.98) but needs precision boost. </a:t>
            </a:r>
            <a:r>
              <a:rPr lang="en-US">
                <a:effectLst/>
              </a:rPr>
              <a:t>Strong start for lender risk management!</a:t>
            </a:r>
          </a:p>
        </p:txBody>
      </p:sp>
    </p:spTree>
    <p:extLst>
      <p:ext uri="{BB962C8B-B14F-4D97-AF65-F5344CB8AC3E}">
        <p14:creationId xmlns:p14="http://schemas.microsoft.com/office/powerpoint/2010/main" val="9576699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227</Words>
  <Application>Microsoft Office PowerPoint</Application>
  <PresentationFormat>Widescreen</PresentationFormat>
  <Paragraphs>34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Office Theme</vt:lpstr>
      <vt:lpstr>Predicting Loan Defaults for Smarter Lending</vt:lpstr>
      <vt:lpstr>Introduction: Why This Matters</vt:lpstr>
      <vt:lpstr>Dataset Overview</vt:lpstr>
      <vt:lpstr>Data Exploration</vt:lpstr>
      <vt:lpstr>Data Exploration</vt:lpstr>
      <vt:lpstr>Data Preperation</vt:lpstr>
      <vt:lpstr>Methods: Models and Evaluation</vt:lpstr>
      <vt:lpstr>Methods: Models and Evaluation</vt:lpstr>
      <vt:lpstr>Results: Model Performance</vt:lpstr>
      <vt:lpstr>Results: Model Performance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alex spence</dc:creator>
  <cp:lastModifiedBy>alex spence</cp:lastModifiedBy>
  <cp:revision>1</cp:revision>
  <dcterms:created xsi:type="dcterms:W3CDTF">2025-10-28T00:17:41Z</dcterms:created>
  <dcterms:modified xsi:type="dcterms:W3CDTF">2025-10-28T00:27:53Z</dcterms:modified>
</cp:coreProperties>
</file>