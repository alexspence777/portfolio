
<file path=[Content_Types].xml><?xml version="1.0" encoding="utf-8"?>
<Types xmlns="http://schemas.openxmlformats.org/package/2006/content-types">
  <Default Extension="jpeg" ContentType="image/jpeg"/>
  <Default Extension="m4a" ContentType="audi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4" autoAdjust="0"/>
    <p:restoredTop sz="69572" autoAdjust="0"/>
  </p:normalViewPr>
  <p:slideViewPr>
    <p:cSldViewPr snapToGrid="0">
      <p:cViewPr varScale="1">
        <p:scale>
          <a:sx n="61" d="100"/>
          <a:sy n="61" d="100"/>
        </p:scale>
        <p:origin x="1698"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45ED803-8423-4CD9-8621-92897624E524}" type="datetimeFigureOut">
              <a:rPr lang="en-US" smtClean="0"/>
              <a:t>2/28/2026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2A31A67-2747-4BD8-A52D-3444E88C9ECF}" type="slidenum">
              <a:rPr lang="en-US" smtClean="0"/>
              <a:t>‹#›</a:t>
            </a:fld>
            <a:endParaRPr lang="en-US"/>
          </a:p>
        </p:txBody>
      </p:sp>
    </p:spTree>
    <p:extLst>
      <p:ext uri="{BB962C8B-B14F-4D97-AF65-F5344CB8AC3E}">
        <p14:creationId xmlns:p14="http://schemas.microsoft.com/office/powerpoint/2010/main" val="338609748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effectLst/>
              </a:rPr>
              <a:t>Hi everyone, my name is Alex Spence. This is my third and final project: Predicting Telecom Customer Churn – Identifying Subscribers Likely to Leave and Why. Today I'll cover the business problem, data, methods, results with key visuals, a practical tool, recommendations, and closing thoughts.</a:t>
            </a:r>
          </a:p>
          <a:p>
            <a:endParaRPr lang="en-US" dirty="0"/>
          </a:p>
        </p:txBody>
      </p:sp>
      <p:sp>
        <p:nvSpPr>
          <p:cNvPr id="4" name="Slide Number Placeholder 3"/>
          <p:cNvSpPr>
            <a:spLocks noGrp="1"/>
          </p:cNvSpPr>
          <p:nvPr>
            <p:ph type="sldNum" sz="quarter" idx="5"/>
          </p:nvPr>
        </p:nvSpPr>
        <p:spPr/>
        <p:txBody>
          <a:bodyPr/>
          <a:lstStyle/>
          <a:p>
            <a:fld id="{D2A31A67-2747-4BD8-A52D-3444E88C9ECF}" type="slidenum">
              <a:rPr lang="en-US" smtClean="0"/>
              <a:t>1</a:t>
            </a:fld>
            <a:endParaRPr lang="en-US"/>
          </a:p>
        </p:txBody>
      </p:sp>
    </p:spTree>
    <p:extLst>
      <p:ext uri="{BB962C8B-B14F-4D97-AF65-F5344CB8AC3E}">
        <p14:creationId xmlns:p14="http://schemas.microsoft.com/office/powerpoint/2010/main" val="260797164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effectLst/>
              </a:rPr>
              <a:t>Churn is one of the biggest challenges in telecom. Losing a customer means losing recurring revenue, and replacing them costs 5 to 7 times more than keeping them. Retention teams want to know who's at risk so they can offer targeted incentives – like discounts, upgrades, or better support – before the customer switches. The research questions were: What are the strongest predictors? Can ML beat simple rules? And can the predictions be actionable for real teams?"</a:t>
            </a:r>
          </a:p>
          <a:p>
            <a:endParaRPr lang="en-US" dirty="0"/>
          </a:p>
        </p:txBody>
      </p:sp>
      <p:sp>
        <p:nvSpPr>
          <p:cNvPr id="4" name="Slide Number Placeholder 3"/>
          <p:cNvSpPr>
            <a:spLocks noGrp="1"/>
          </p:cNvSpPr>
          <p:nvPr>
            <p:ph type="sldNum" sz="quarter" idx="5"/>
          </p:nvPr>
        </p:nvSpPr>
        <p:spPr/>
        <p:txBody>
          <a:bodyPr/>
          <a:lstStyle/>
          <a:p>
            <a:fld id="{D2A31A67-2747-4BD8-A52D-3444E88C9ECF}" type="slidenum">
              <a:rPr lang="en-US" smtClean="0"/>
              <a:t>2</a:t>
            </a:fld>
            <a:endParaRPr lang="en-US"/>
          </a:p>
        </p:txBody>
      </p:sp>
    </p:spTree>
    <p:extLst>
      <p:ext uri="{BB962C8B-B14F-4D97-AF65-F5344CB8AC3E}">
        <p14:creationId xmlns:p14="http://schemas.microsoft.com/office/powerpoint/2010/main" val="23550073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effectLst/>
              </a:rPr>
              <a:t>I used the Telco Customer Churn dataset from Kaggle – 7,043 customers with 21 features. These include tenure, monthly and total charges, contract type, payment method, services like internet, phone, streaming, security, tech support, and demographics like gender, senior citizen status, partner, and dependents. After encoding </a:t>
            </a:r>
            <a:r>
              <a:rPr lang="en-US" dirty="0" err="1">
                <a:effectLst/>
              </a:rPr>
              <a:t>categoricals</a:t>
            </a:r>
            <a:r>
              <a:rPr lang="en-US" dirty="0">
                <a:effectLst/>
              </a:rPr>
              <a:t>, handling missing charges, and creating derived features like average charge and total services count, I had about 45 features and the same 7,043 rows. Churn rate was around 26.5% – so moderate imbalance that we had to handle</a:t>
            </a:r>
          </a:p>
          <a:p>
            <a:endParaRPr lang="en-US" dirty="0"/>
          </a:p>
        </p:txBody>
      </p:sp>
      <p:sp>
        <p:nvSpPr>
          <p:cNvPr id="4" name="Slide Number Placeholder 3"/>
          <p:cNvSpPr>
            <a:spLocks noGrp="1"/>
          </p:cNvSpPr>
          <p:nvPr>
            <p:ph type="sldNum" sz="quarter" idx="5"/>
          </p:nvPr>
        </p:nvSpPr>
        <p:spPr/>
        <p:txBody>
          <a:bodyPr/>
          <a:lstStyle/>
          <a:p>
            <a:fld id="{D2A31A67-2747-4BD8-A52D-3444E88C9ECF}" type="slidenum">
              <a:rPr lang="en-US" smtClean="0"/>
              <a:t>3</a:t>
            </a:fld>
            <a:endParaRPr lang="en-US"/>
          </a:p>
        </p:txBody>
      </p:sp>
    </p:spTree>
    <p:extLst>
      <p:ext uri="{BB962C8B-B14F-4D97-AF65-F5344CB8AC3E}">
        <p14:creationId xmlns:p14="http://schemas.microsoft.com/office/powerpoint/2010/main" val="62493087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effectLst/>
              </a:rPr>
              <a:t>I did an 80/20 train-test split with manual balancing to make sure both classes were in the train set. Logistic regression was the baseline. The main model was </a:t>
            </a:r>
            <a:r>
              <a:rPr lang="en-US" dirty="0" err="1">
                <a:effectLst/>
              </a:rPr>
              <a:t>XGBoost</a:t>
            </a:r>
            <a:r>
              <a:rPr lang="en-US" dirty="0">
                <a:effectLst/>
              </a:rPr>
              <a:t> – great for this kind of tabular data, with class weighting, cross-validation tuning, and early stopping. I used AUC-ROC as the primary metric, plus precision-recall for the minority class, and SHAP values for explainability – because knowing why someone is at risk is key for retention.</a:t>
            </a:r>
          </a:p>
          <a:p>
            <a:endParaRPr lang="en-US" dirty="0"/>
          </a:p>
        </p:txBody>
      </p:sp>
      <p:sp>
        <p:nvSpPr>
          <p:cNvPr id="4" name="Slide Number Placeholder 3"/>
          <p:cNvSpPr>
            <a:spLocks noGrp="1"/>
          </p:cNvSpPr>
          <p:nvPr>
            <p:ph type="sldNum" sz="quarter" idx="5"/>
          </p:nvPr>
        </p:nvSpPr>
        <p:spPr/>
        <p:txBody>
          <a:bodyPr/>
          <a:lstStyle/>
          <a:p>
            <a:fld id="{D2A31A67-2747-4BD8-A52D-3444E88C9ECF}" type="slidenum">
              <a:rPr lang="en-US" smtClean="0"/>
              <a:t>4</a:t>
            </a:fld>
            <a:endParaRPr lang="en-US"/>
          </a:p>
        </p:txBody>
      </p:sp>
    </p:spTree>
    <p:extLst>
      <p:ext uri="{BB962C8B-B14F-4D97-AF65-F5344CB8AC3E}">
        <p14:creationId xmlns:p14="http://schemas.microsoft.com/office/powerpoint/2010/main" val="257316642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effectLst/>
              </a:rPr>
              <a:t>The </a:t>
            </a:r>
            <a:r>
              <a:rPr lang="en-US" dirty="0" err="1">
                <a:effectLst/>
              </a:rPr>
              <a:t>XGBoost</a:t>
            </a:r>
            <a:r>
              <a:rPr lang="en-US" dirty="0">
                <a:effectLst/>
              </a:rPr>
              <a:t> model achieved an AUC of .845 – solid performance for churn prediction. Here in Figure 1 are the top 15 features by importance. Month-to-month contract is by far the biggest driver, followed by tenure, monthly charges, total services used, and tech support. Short tenure and month-to-month contracts make churn much more likely.</a:t>
            </a:r>
          </a:p>
          <a:p>
            <a:endParaRPr lang="en-US" dirty="0"/>
          </a:p>
        </p:txBody>
      </p:sp>
      <p:sp>
        <p:nvSpPr>
          <p:cNvPr id="4" name="Slide Number Placeholder 3"/>
          <p:cNvSpPr>
            <a:spLocks noGrp="1"/>
          </p:cNvSpPr>
          <p:nvPr>
            <p:ph type="sldNum" sz="quarter" idx="5"/>
          </p:nvPr>
        </p:nvSpPr>
        <p:spPr/>
        <p:txBody>
          <a:bodyPr/>
          <a:lstStyle/>
          <a:p>
            <a:fld id="{D2A31A67-2747-4BD8-A52D-3444E88C9ECF}" type="slidenum">
              <a:rPr lang="en-US" smtClean="0"/>
              <a:t>5</a:t>
            </a:fld>
            <a:endParaRPr lang="en-US"/>
          </a:p>
        </p:txBody>
      </p:sp>
    </p:spTree>
    <p:extLst>
      <p:ext uri="{BB962C8B-B14F-4D97-AF65-F5344CB8AC3E}">
        <p14:creationId xmlns:p14="http://schemas.microsoft.com/office/powerpoint/2010/main" val="273778955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effectLst/>
              </a:rPr>
              <a:t>Figure 2 is the SHAP summary plot. It shows not just importance but direction: red means higher values increase churn risk, blue decreases it. Month-to-month contracts and high monthly charges strongly push risk up, while longer tenure and more bundled services pull it down. This gives clear, actionable insights for retention strategies</a:t>
            </a:r>
          </a:p>
          <a:p>
            <a:endParaRPr lang="en-US" dirty="0"/>
          </a:p>
        </p:txBody>
      </p:sp>
      <p:sp>
        <p:nvSpPr>
          <p:cNvPr id="4" name="Slide Number Placeholder 3"/>
          <p:cNvSpPr>
            <a:spLocks noGrp="1"/>
          </p:cNvSpPr>
          <p:nvPr>
            <p:ph type="sldNum" sz="quarter" idx="5"/>
          </p:nvPr>
        </p:nvSpPr>
        <p:spPr/>
        <p:txBody>
          <a:bodyPr/>
          <a:lstStyle/>
          <a:p>
            <a:fld id="{D2A31A67-2747-4BD8-A52D-3444E88C9ECF}" type="slidenum">
              <a:rPr lang="en-US" smtClean="0"/>
              <a:t>6</a:t>
            </a:fld>
            <a:endParaRPr lang="en-US"/>
          </a:p>
        </p:txBody>
      </p:sp>
    </p:spTree>
    <p:extLst>
      <p:ext uri="{BB962C8B-B14F-4D97-AF65-F5344CB8AC3E}">
        <p14:creationId xmlns:p14="http://schemas.microsoft.com/office/powerpoint/2010/main" val="49588423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effectLst/>
              </a:rPr>
              <a:t>Figure 4 is the precision-recall curve. With 26% churn, precision is important – we don't want to waste offers on too many loyal customers. At a threshold that captures about 75% of actual churners, precision stays reasonable, making it practical for targeted campaigns.</a:t>
            </a:r>
          </a:p>
          <a:p>
            <a:endParaRPr lang="en-US" dirty="0"/>
          </a:p>
        </p:txBody>
      </p:sp>
      <p:sp>
        <p:nvSpPr>
          <p:cNvPr id="4" name="Slide Number Placeholder 3"/>
          <p:cNvSpPr>
            <a:spLocks noGrp="1"/>
          </p:cNvSpPr>
          <p:nvPr>
            <p:ph type="sldNum" sz="quarter" idx="5"/>
          </p:nvPr>
        </p:nvSpPr>
        <p:spPr/>
        <p:txBody>
          <a:bodyPr/>
          <a:lstStyle/>
          <a:p>
            <a:fld id="{D2A31A67-2747-4BD8-A52D-3444E88C9ECF}" type="slidenum">
              <a:rPr lang="en-US" smtClean="0"/>
              <a:t>7</a:t>
            </a:fld>
            <a:endParaRPr lang="en-US"/>
          </a:p>
        </p:txBody>
      </p:sp>
    </p:spTree>
    <p:extLst>
      <p:ext uri="{BB962C8B-B14F-4D97-AF65-F5344CB8AC3E}">
        <p14:creationId xmlns:p14="http://schemas.microsoft.com/office/powerpoint/2010/main" val="401048615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effectLst/>
              </a:rPr>
              <a:t>"To make this usable, I built a </a:t>
            </a:r>
            <a:r>
              <a:rPr lang="en-US" dirty="0" err="1">
                <a:effectLst/>
              </a:rPr>
              <a:t>Streamlit</a:t>
            </a:r>
            <a:r>
              <a:rPr lang="en-US" dirty="0">
                <a:effectLst/>
              </a:rPr>
              <a:t> dashboard – Figure 5 is a screenshot. You input tenure, monthly charges, whether it's month-to-month, fiber internet, and tech support status. It gives an instant churn risk percentage and a color-coded alert – high risk in red, moderate in yellow, low in green. This could easily be added to a CRM tool for quick checks by retention staff."</a:t>
            </a:r>
          </a:p>
          <a:p>
            <a:endParaRPr lang="en-US" dirty="0"/>
          </a:p>
        </p:txBody>
      </p:sp>
      <p:sp>
        <p:nvSpPr>
          <p:cNvPr id="4" name="Slide Number Placeholder 3"/>
          <p:cNvSpPr>
            <a:spLocks noGrp="1"/>
          </p:cNvSpPr>
          <p:nvPr>
            <p:ph type="sldNum" sz="quarter" idx="5"/>
          </p:nvPr>
        </p:nvSpPr>
        <p:spPr/>
        <p:txBody>
          <a:bodyPr/>
          <a:lstStyle/>
          <a:p>
            <a:fld id="{D2A31A67-2747-4BD8-A52D-3444E88C9ECF}" type="slidenum">
              <a:rPr lang="en-US" smtClean="0"/>
              <a:t>8</a:t>
            </a:fld>
            <a:endParaRPr lang="en-US"/>
          </a:p>
        </p:txBody>
      </p:sp>
    </p:spTree>
    <p:extLst>
      <p:ext uri="{BB962C8B-B14F-4D97-AF65-F5344CB8AC3E}">
        <p14:creationId xmlns:p14="http://schemas.microsoft.com/office/powerpoint/2010/main" val="266969538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effectLst/>
              </a:rPr>
              <a:t>Prioritize month-to-month customers with high charges and few services for retention offers like discounts or bundles. Add value-added services like tech support or security to reduce risk. Monitor short-tenure customers closely.</a:t>
            </a:r>
          </a:p>
          <a:p>
            <a:r>
              <a:rPr lang="en-US" dirty="0">
                <a:effectLst/>
              </a:rPr>
              <a:t>On ethics: Performance was similar across gender and senior citizen groups. Minor differences by payment method were noted. The model is support only – human review always required. No automated decisions.</a:t>
            </a:r>
          </a:p>
          <a:p>
            <a:endParaRPr lang="en-US" dirty="0"/>
          </a:p>
        </p:txBody>
      </p:sp>
      <p:sp>
        <p:nvSpPr>
          <p:cNvPr id="4" name="Slide Number Placeholder 3"/>
          <p:cNvSpPr>
            <a:spLocks noGrp="1"/>
          </p:cNvSpPr>
          <p:nvPr>
            <p:ph type="sldNum" sz="quarter" idx="5"/>
          </p:nvPr>
        </p:nvSpPr>
        <p:spPr/>
        <p:txBody>
          <a:bodyPr/>
          <a:lstStyle/>
          <a:p>
            <a:fld id="{D2A31A67-2747-4BD8-A52D-3444E88C9ECF}" type="slidenum">
              <a:rPr lang="en-US" smtClean="0"/>
              <a:t>9</a:t>
            </a:fld>
            <a:endParaRPr lang="en-US"/>
          </a:p>
        </p:txBody>
      </p:sp>
    </p:spTree>
    <p:extLst>
      <p:ext uri="{BB962C8B-B14F-4D97-AF65-F5344CB8AC3E}">
        <p14:creationId xmlns:p14="http://schemas.microsoft.com/office/powerpoint/2010/main" val="47775858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effectLst/>
              </a:rPr>
              <a:t>To wrap up: We can predict churn well with standard data, and the model highlights preventable drivers like month-to-month contracts and high standalone pricing. The biggest lesson: Interpretability turns a good model into a useful business tool. Next steps would be testing on real telecom data and adding signals like recent support tickets. Thank you so much for </a:t>
            </a:r>
            <a:r>
              <a:rPr lang="en-US" dirty="0" err="1">
                <a:effectLst/>
              </a:rPr>
              <a:t>watchin</a:t>
            </a:r>
            <a:endParaRPr lang="en-US" dirty="0"/>
          </a:p>
        </p:txBody>
      </p:sp>
      <p:sp>
        <p:nvSpPr>
          <p:cNvPr id="4" name="Slide Number Placeholder 3"/>
          <p:cNvSpPr>
            <a:spLocks noGrp="1"/>
          </p:cNvSpPr>
          <p:nvPr>
            <p:ph type="sldNum" sz="quarter" idx="5"/>
          </p:nvPr>
        </p:nvSpPr>
        <p:spPr/>
        <p:txBody>
          <a:bodyPr/>
          <a:lstStyle/>
          <a:p>
            <a:fld id="{D2A31A67-2747-4BD8-A52D-3444E88C9ECF}" type="slidenum">
              <a:rPr lang="en-US" smtClean="0"/>
              <a:t>10</a:t>
            </a:fld>
            <a:endParaRPr lang="en-US"/>
          </a:p>
        </p:txBody>
      </p:sp>
    </p:spTree>
    <p:extLst>
      <p:ext uri="{BB962C8B-B14F-4D97-AF65-F5344CB8AC3E}">
        <p14:creationId xmlns:p14="http://schemas.microsoft.com/office/powerpoint/2010/main" val="311685984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904FEF-F8EA-A4DC-674F-AB5394635D6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284C6BB4-4777-C946-8053-D503D1C72C4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9761B73E-8C40-FE79-01A6-D33D762334E6}"/>
              </a:ext>
            </a:extLst>
          </p:cNvPr>
          <p:cNvSpPr>
            <a:spLocks noGrp="1"/>
          </p:cNvSpPr>
          <p:nvPr>
            <p:ph type="dt" sz="half" idx="10"/>
          </p:nvPr>
        </p:nvSpPr>
        <p:spPr/>
        <p:txBody>
          <a:bodyPr/>
          <a:lstStyle/>
          <a:p>
            <a:fld id="{5BFDE638-A0B3-40A3-A4F5-E237E524BD55}" type="datetimeFigureOut">
              <a:rPr lang="en-US" smtClean="0"/>
              <a:t>2/28/2026</a:t>
            </a:fld>
            <a:endParaRPr lang="en-US"/>
          </a:p>
        </p:txBody>
      </p:sp>
      <p:sp>
        <p:nvSpPr>
          <p:cNvPr id="5" name="Footer Placeholder 4">
            <a:extLst>
              <a:ext uri="{FF2B5EF4-FFF2-40B4-BE49-F238E27FC236}">
                <a16:creationId xmlns:a16="http://schemas.microsoft.com/office/drawing/2014/main" id="{B03C9D57-253B-6569-8C4F-8B53B5EA4A8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AE9A5C7-8E1C-BEC3-038F-68A459056B9E}"/>
              </a:ext>
            </a:extLst>
          </p:cNvPr>
          <p:cNvSpPr>
            <a:spLocks noGrp="1"/>
          </p:cNvSpPr>
          <p:nvPr>
            <p:ph type="sldNum" sz="quarter" idx="12"/>
          </p:nvPr>
        </p:nvSpPr>
        <p:spPr/>
        <p:txBody>
          <a:bodyPr/>
          <a:lstStyle/>
          <a:p>
            <a:fld id="{9487F0E9-37EF-4EDB-B09A-CD819418B671}" type="slidenum">
              <a:rPr lang="en-US" smtClean="0"/>
              <a:t>‹#›</a:t>
            </a:fld>
            <a:endParaRPr lang="en-US"/>
          </a:p>
        </p:txBody>
      </p:sp>
    </p:spTree>
    <p:extLst>
      <p:ext uri="{BB962C8B-B14F-4D97-AF65-F5344CB8AC3E}">
        <p14:creationId xmlns:p14="http://schemas.microsoft.com/office/powerpoint/2010/main" val="271044429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E5CC70-B5D2-7EC5-4109-95D8893B3AF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A13EB7D-6037-DEC6-5A23-B43A37866D5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CF5EAD7-7E44-B41F-A109-51DD9552270B}"/>
              </a:ext>
            </a:extLst>
          </p:cNvPr>
          <p:cNvSpPr>
            <a:spLocks noGrp="1"/>
          </p:cNvSpPr>
          <p:nvPr>
            <p:ph type="dt" sz="half" idx="10"/>
          </p:nvPr>
        </p:nvSpPr>
        <p:spPr/>
        <p:txBody>
          <a:bodyPr/>
          <a:lstStyle/>
          <a:p>
            <a:fld id="{5BFDE638-A0B3-40A3-A4F5-E237E524BD55}" type="datetimeFigureOut">
              <a:rPr lang="en-US" smtClean="0"/>
              <a:t>2/28/2026</a:t>
            </a:fld>
            <a:endParaRPr lang="en-US"/>
          </a:p>
        </p:txBody>
      </p:sp>
      <p:sp>
        <p:nvSpPr>
          <p:cNvPr id="5" name="Footer Placeholder 4">
            <a:extLst>
              <a:ext uri="{FF2B5EF4-FFF2-40B4-BE49-F238E27FC236}">
                <a16:creationId xmlns:a16="http://schemas.microsoft.com/office/drawing/2014/main" id="{F601C420-9C44-2CE8-4E84-594F2F8D452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ABF545E-B57C-3B36-6FDD-C155DB53D5D8}"/>
              </a:ext>
            </a:extLst>
          </p:cNvPr>
          <p:cNvSpPr>
            <a:spLocks noGrp="1"/>
          </p:cNvSpPr>
          <p:nvPr>
            <p:ph type="sldNum" sz="quarter" idx="12"/>
          </p:nvPr>
        </p:nvSpPr>
        <p:spPr/>
        <p:txBody>
          <a:bodyPr/>
          <a:lstStyle/>
          <a:p>
            <a:fld id="{9487F0E9-37EF-4EDB-B09A-CD819418B671}" type="slidenum">
              <a:rPr lang="en-US" smtClean="0"/>
              <a:t>‹#›</a:t>
            </a:fld>
            <a:endParaRPr lang="en-US"/>
          </a:p>
        </p:txBody>
      </p:sp>
    </p:spTree>
    <p:extLst>
      <p:ext uri="{BB962C8B-B14F-4D97-AF65-F5344CB8AC3E}">
        <p14:creationId xmlns:p14="http://schemas.microsoft.com/office/powerpoint/2010/main" val="27453474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211F33-4FA2-463F-328B-ADB9D182EDC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F12C5790-A638-B0FD-84AA-7D976D92BEB8}"/>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80AB9B2-BFA4-8DD0-5FB9-3AAF8933A28F}"/>
              </a:ext>
            </a:extLst>
          </p:cNvPr>
          <p:cNvSpPr>
            <a:spLocks noGrp="1"/>
          </p:cNvSpPr>
          <p:nvPr>
            <p:ph type="dt" sz="half" idx="10"/>
          </p:nvPr>
        </p:nvSpPr>
        <p:spPr/>
        <p:txBody>
          <a:bodyPr/>
          <a:lstStyle/>
          <a:p>
            <a:fld id="{5BFDE638-A0B3-40A3-A4F5-E237E524BD55}" type="datetimeFigureOut">
              <a:rPr lang="en-US" smtClean="0"/>
              <a:t>2/28/2026</a:t>
            </a:fld>
            <a:endParaRPr lang="en-US"/>
          </a:p>
        </p:txBody>
      </p:sp>
      <p:sp>
        <p:nvSpPr>
          <p:cNvPr id="5" name="Footer Placeholder 4">
            <a:extLst>
              <a:ext uri="{FF2B5EF4-FFF2-40B4-BE49-F238E27FC236}">
                <a16:creationId xmlns:a16="http://schemas.microsoft.com/office/drawing/2014/main" id="{502E70FB-8CFD-E51B-DBE4-49DE12CBFAB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E6A392E-AB91-2DA2-84B8-C7F5E18066A8}"/>
              </a:ext>
            </a:extLst>
          </p:cNvPr>
          <p:cNvSpPr>
            <a:spLocks noGrp="1"/>
          </p:cNvSpPr>
          <p:nvPr>
            <p:ph type="sldNum" sz="quarter" idx="12"/>
          </p:nvPr>
        </p:nvSpPr>
        <p:spPr/>
        <p:txBody>
          <a:bodyPr/>
          <a:lstStyle/>
          <a:p>
            <a:fld id="{9487F0E9-37EF-4EDB-B09A-CD819418B671}" type="slidenum">
              <a:rPr lang="en-US" smtClean="0"/>
              <a:t>‹#›</a:t>
            </a:fld>
            <a:endParaRPr lang="en-US"/>
          </a:p>
        </p:txBody>
      </p:sp>
    </p:spTree>
    <p:extLst>
      <p:ext uri="{BB962C8B-B14F-4D97-AF65-F5344CB8AC3E}">
        <p14:creationId xmlns:p14="http://schemas.microsoft.com/office/powerpoint/2010/main" val="241133244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BAAE93-D824-96CD-4472-8FEEF308466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9882143-4CAE-AEBA-9F2D-FF23A5ABB75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35C0117-6C3E-7107-4354-A6896B255E4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8A3DCB6-D4B4-6EAC-637E-9FC1074204DB}"/>
              </a:ext>
            </a:extLst>
          </p:cNvPr>
          <p:cNvSpPr>
            <a:spLocks noGrp="1"/>
          </p:cNvSpPr>
          <p:nvPr>
            <p:ph type="dt" sz="half" idx="10"/>
          </p:nvPr>
        </p:nvSpPr>
        <p:spPr/>
        <p:txBody>
          <a:bodyPr/>
          <a:lstStyle/>
          <a:p>
            <a:fld id="{5BFDE638-A0B3-40A3-A4F5-E237E524BD55}" type="datetimeFigureOut">
              <a:rPr lang="en-US" smtClean="0"/>
              <a:t>2/28/2026</a:t>
            </a:fld>
            <a:endParaRPr lang="en-US"/>
          </a:p>
        </p:txBody>
      </p:sp>
      <p:sp>
        <p:nvSpPr>
          <p:cNvPr id="6" name="Footer Placeholder 5">
            <a:extLst>
              <a:ext uri="{FF2B5EF4-FFF2-40B4-BE49-F238E27FC236}">
                <a16:creationId xmlns:a16="http://schemas.microsoft.com/office/drawing/2014/main" id="{4EC88945-F301-859C-6B82-3A50396AC23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733E414-FD33-EA07-C368-EC3182CF411F}"/>
              </a:ext>
            </a:extLst>
          </p:cNvPr>
          <p:cNvSpPr>
            <a:spLocks noGrp="1"/>
          </p:cNvSpPr>
          <p:nvPr>
            <p:ph type="sldNum" sz="quarter" idx="12"/>
          </p:nvPr>
        </p:nvSpPr>
        <p:spPr/>
        <p:txBody>
          <a:bodyPr/>
          <a:lstStyle/>
          <a:p>
            <a:fld id="{9487F0E9-37EF-4EDB-B09A-CD819418B671}" type="slidenum">
              <a:rPr lang="en-US" smtClean="0"/>
              <a:t>‹#›</a:t>
            </a:fld>
            <a:endParaRPr lang="en-US"/>
          </a:p>
        </p:txBody>
      </p:sp>
    </p:spTree>
    <p:extLst>
      <p:ext uri="{BB962C8B-B14F-4D97-AF65-F5344CB8AC3E}">
        <p14:creationId xmlns:p14="http://schemas.microsoft.com/office/powerpoint/2010/main" val="28692074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E39944-0D2F-5FBE-286A-213BD5FBDAD4}"/>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FE9FA36-3EC3-FE6E-EBA6-D76D97A6F6D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42BE6F5-391A-1F57-1A92-63C55B37E80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43A2DEB0-9802-A1FC-AEE2-09646DF08FE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5329B2E-94A2-A6CB-B2DC-A921F32CF34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5309C4E-013B-A0B9-8012-235CB3EEACA3}"/>
              </a:ext>
            </a:extLst>
          </p:cNvPr>
          <p:cNvSpPr>
            <a:spLocks noGrp="1"/>
          </p:cNvSpPr>
          <p:nvPr>
            <p:ph type="dt" sz="half" idx="10"/>
          </p:nvPr>
        </p:nvSpPr>
        <p:spPr/>
        <p:txBody>
          <a:bodyPr/>
          <a:lstStyle/>
          <a:p>
            <a:fld id="{5BFDE638-A0B3-40A3-A4F5-E237E524BD55}" type="datetimeFigureOut">
              <a:rPr lang="en-US" smtClean="0"/>
              <a:t>2/28/2026</a:t>
            </a:fld>
            <a:endParaRPr lang="en-US"/>
          </a:p>
        </p:txBody>
      </p:sp>
      <p:sp>
        <p:nvSpPr>
          <p:cNvPr id="8" name="Footer Placeholder 7">
            <a:extLst>
              <a:ext uri="{FF2B5EF4-FFF2-40B4-BE49-F238E27FC236}">
                <a16:creationId xmlns:a16="http://schemas.microsoft.com/office/drawing/2014/main" id="{CD96FCA2-7383-F9EF-5660-6A2F8CF3A435}"/>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7517014A-844F-FAD4-F1AD-EF0DCDECE877}"/>
              </a:ext>
            </a:extLst>
          </p:cNvPr>
          <p:cNvSpPr>
            <a:spLocks noGrp="1"/>
          </p:cNvSpPr>
          <p:nvPr>
            <p:ph type="sldNum" sz="quarter" idx="12"/>
          </p:nvPr>
        </p:nvSpPr>
        <p:spPr/>
        <p:txBody>
          <a:bodyPr/>
          <a:lstStyle/>
          <a:p>
            <a:fld id="{9487F0E9-37EF-4EDB-B09A-CD819418B671}" type="slidenum">
              <a:rPr lang="en-US" smtClean="0"/>
              <a:t>‹#›</a:t>
            </a:fld>
            <a:endParaRPr lang="en-US"/>
          </a:p>
        </p:txBody>
      </p:sp>
    </p:spTree>
    <p:extLst>
      <p:ext uri="{BB962C8B-B14F-4D97-AF65-F5344CB8AC3E}">
        <p14:creationId xmlns:p14="http://schemas.microsoft.com/office/powerpoint/2010/main" val="10426974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3244F7-7D01-F56B-15FA-5A04F75E34A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B665298-12BF-68DD-3247-50F9C2FB6AA4}"/>
              </a:ext>
            </a:extLst>
          </p:cNvPr>
          <p:cNvSpPr>
            <a:spLocks noGrp="1"/>
          </p:cNvSpPr>
          <p:nvPr>
            <p:ph type="dt" sz="half" idx="10"/>
          </p:nvPr>
        </p:nvSpPr>
        <p:spPr/>
        <p:txBody>
          <a:bodyPr/>
          <a:lstStyle/>
          <a:p>
            <a:fld id="{5BFDE638-A0B3-40A3-A4F5-E237E524BD55}" type="datetimeFigureOut">
              <a:rPr lang="en-US" smtClean="0"/>
              <a:t>2/28/2026</a:t>
            </a:fld>
            <a:endParaRPr lang="en-US"/>
          </a:p>
        </p:txBody>
      </p:sp>
      <p:sp>
        <p:nvSpPr>
          <p:cNvPr id="4" name="Footer Placeholder 3">
            <a:extLst>
              <a:ext uri="{FF2B5EF4-FFF2-40B4-BE49-F238E27FC236}">
                <a16:creationId xmlns:a16="http://schemas.microsoft.com/office/drawing/2014/main" id="{480CD65A-A8AB-0863-0BB1-780BC9C3D72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F7B4532-1C8D-BC3B-12FB-94311DB6C6BF}"/>
              </a:ext>
            </a:extLst>
          </p:cNvPr>
          <p:cNvSpPr>
            <a:spLocks noGrp="1"/>
          </p:cNvSpPr>
          <p:nvPr>
            <p:ph type="sldNum" sz="quarter" idx="12"/>
          </p:nvPr>
        </p:nvSpPr>
        <p:spPr/>
        <p:txBody>
          <a:bodyPr/>
          <a:lstStyle/>
          <a:p>
            <a:fld id="{9487F0E9-37EF-4EDB-B09A-CD819418B671}" type="slidenum">
              <a:rPr lang="en-US" smtClean="0"/>
              <a:t>‹#›</a:t>
            </a:fld>
            <a:endParaRPr lang="en-US"/>
          </a:p>
        </p:txBody>
      </p:sp>
    </p:spTree>
    <p:extLst>
      <p:ext uri="{BB962C8B-B14F-4D97-AF65-F5344CB8AC3E}">
        <p14:creationId xmlns:p14="http://schemas.microsoft.com/office/powerpoint/2010/main" val="292960242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8C19E7E-11BD-197E-FFD0-EC8A983688FF}"/>
              </a:ext>
            </a:extLst>
          </p:cNvPr>
          <p:cNvSpPr>
            <a:spLocks noGrp="1"/>
          </p:cNvSpPr>
          <p:nvPr>
            <p:ph type="dt" sz="half" idx="10"/>
          </p:nvPr>
        </p:nvSpPr>
        <p:spPr/>
        <p:txBody>
          <a:bodyPr/>
          <a:lstStyle/>
          <a:p>
            <a:fld id="{5BFDE638-A0B3-40A3-A4F5-E237E524BD55}" type="datetimeFigureOut">
              <a:rPr lang="en-US" smtClean="0"/>
              <a:t>2/28/2026</a:t>
            </a:fld>
            <a:endParaRPr lang="en-US"/>
          </a:p>
        </p:txBody>
      </p:sp>
      <p:sp>
        <p:nvSpPr>
          <p:cNvPr id="3" name="Footer Placeholder 2">
            <a:extLst>
              <a:ext uri="{FF2B5EF4-FFF2-40B4-BE49-F238E27FC236}">
                <a16:creationId xmlns:a16="http://schemas.microsoft.com/office/drawing/2014/main" id="{9306A69B-A708-4372-FAE0-7D0043ABC07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04062006-2A25-95F2-94F9-691F33D8C318}"/>
              </a:ext>
            </a:extLst>
          </p:cNvPr>
          <p:cNvSpPr>
            <a:spLocks noGrp="1"/>
          </p:cNvSpPr>
          <p:nvPr>
            <p:ph type="sldNum" sz="quarter" idx="12"/>
          </p:nvPr>
        </p:nvSpPr>
        <p:spPr/>
        <p:txBody>
          <a:bodyPr/>
          <a:lstStyle/>
          <a:p>
            <a:fld id="{9487F0E9-37EF-4EDB-B09A-CD819418B671}" type="slidenum">
              <a:rPr lang="en-US" smtClean="0"/>
              <a:t>‹#›</a:t>
            </a:fld>
            <a:endParaRPr lang="en-US"/>
          </a:p>
        </p:txBody>
      </p:sp>
    </p:spTree>
    <p:extLst>
      <p:ext uri="{BB962C8B-B14F-4D97-AF65-F5344CB8AC3E}">
        <p14:creationId xmlns:p14="http://schemas.microsoft.com/office/powerpoint/2010/main" val="26464124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6336B6-7EAD-18B2-DFC4-BDD63DECCCE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C11A685C-913E-0A5C-67EA-62C1EC3449C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A7001A2-C4F9-A922-56D7-0F94CEC4BCA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126EE9B-9F42-F928-34D0-9C84F3010431}"/>
              </a:ext>
            </a:extLst>
          </p:cNvPr>
          <p:cNvSpPr>
            <a:spLocks noGrp="1"/>
          </p:cNvSpPr>
          <p:nvPr>
            <p:ph type="dt" sz="half" idx="10"/>
          </p:nvPr>
        </p:nvSpPr>
        <p:spPr/>
        <p:txBody>
          <a:bodyPr/>
          <a:lstStyle/>
          <a:p>
            <a:fld id="{5BFDE638-A0B3-40A3-A4F5-E237E524BD55}" type="datetimeFigureOut">
              <a:rPr lang="en-US" smtClean="0"/>
              <a:t>2/28/2026</a:t>
            </a:fld>
            <a:endParaRPr lang="en-US"/>
          </a:p>
        </p:txBody>
      </p:sp>
      <p:sp>
        <p:nvSpPr>
          <p:cNvPr id="6" name="Footer Placeholder 5">
            <a:extLst>
              <a:ext uri="{FF2B5EF4-FFF2-40B4-BE49-F238E27FC236}">
                <a16:creationId xmlns:a16="http://schemas.microsoft.com/office/drawing/2014/main" id="{B0AF449A-655D-8059-33BF-CFAFE6AEC32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8138CBA-3EE7-3C6C-E37A-7748457C301E}"/>
              </a:ext>
            </a:extLst>
          </p:cNvPr>
          <p:cNvSpPr>
            <a:spLocks noGrp="1"/>
          </p:cNvSpPr>
          <p:nvPr>
            <p:ph type="sldNum" sz="quarter" idx="12"/>
          </p:nvPr>
        </p:nvSpPr>
        <p:spPr/>
        <p:txBody>
          <a:bodyPr/>
          <a:lstStyle/>
          <a:p>
            <a:fld id="{9487F0E9-37EF-4EDB-B09A-CD819418B671}" type="slidenum">
              <a:rPr lang="en-US" smtClean="0"/>
              <a:t>‹#›</a:t>
            </a:fld>
            <a:endParaRPr lang="en-US"/>
          </a:p>
        </p:txBody>
      </p:sp>
    </p:spTree>
    <p:extLst>
      <p:ext uri="{BB962C8B-B14F-4D97-AF65-F5344CB8AC3E}">
        <p14:creationId xmlns:p14="http://schemas.microsoft.com/office/powerpoint/2010/main" val="41977085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DD1B99-57B6-8FD3-199F-4285DE78FFF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A2746A25-B950-E855-F1ED-96B3A042A67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195E9CAB-F20F-4944-0DDD-326906199F8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FA95239-4E02-4D5F-3203-E3903CAA8F1A}"/>
              </a:ext>
            </a:extLst>
          </p:cNvPr>
          <p:cNvSpPr>
            <a:spLocks noGrp="1"/>
          </p:cNvSpPr>
          <p:nvPr>
            <p:ph type="dt" sz="half" idx="10"/>
          </p:nvPr>
        </p:nvSpPr>
        <p:spPr/>
        <p:txBody>
          <a:bodyPr/>
          <a:lstStyle/>
          <a:p>
            <a:fld id="{5BFDE638-A0B3-40A3-A4F5-E237E524BD55}" type="datetimeFigureOut">
              <a:rPr lang="en-US" smtClean="0"/>
              <a:t>2/28/2026</a:t>
            </a:fld>
            <a:endParaRPr lang="en-US"/>
          </a:p>
        </p:txBody>
      </p:sp>
      <p:sp>
        <p:nvSpPr>
          <p:cNvPr id="6" name="Footer Placeholder 5">
            <a:extLst>
              <a:ext uri="{FF2B5EF4-FFF2-40B4-BE49-F238E27FC236}">
                <a16:creationId xmlns:a16="http://schemas.microsoft.com/office/drawing/2014/main" id="{3FFD984C-C644-0F32-D645-6F8DED91AAD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E8089F4-6229-9389-9982-9B25A4FCB959}"/>
              </a:ext>
            </a:extLst>
          </p:cNvPr>
          <p:cNvSpPr>
            <a:spLocks noGrp="1"/>
          </p:cNvSpPr>
          <p:nvPr>
            <p:ph type="sldNum" sz="quarter" idx="12"/>
          </p:nvPr>
        </p:nvSpPr>
        <p:spPr/>
        <p:txBody>
          <a:bodyPr/>
          <a:lstStyle/>
          <a:p>
            <a:fld id="{9487F0E9-37EF-4EDB-B09A-CD819418B671}" type="slidenum">
              <a:rPr lang="en-US" smtClean="0"/>
              <a:t>‹#›</a:t>
            </a:fld>
            <a:endParaRPr lang="en-US"/>
          </a:p>
        </p:txBody>
      </p:sp>
    </p:spTree>
    <p:extLst>
      <p:ext uri="{BB962C8B-B14F-4D97-AF65-F5344CB8AC3E}">
        <p14:creationId xmlns:p14="http://schemas.microsoft.com/office/powerpoint/2010/main" val="399790770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1BAB41-6512-071D-7298-D8329AF08B6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21CC509-6F0E-7671-0AF7-5885F01E958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A76373C-DE31-206B-4865-963F69CF9B9E}"/>
              </a:ext>
            </a:extLst>
          </p:cNvPr>
          <p:cNvSpPr>
            <a:spLocks noGrp="1"/>
          </p:cNvSpPr>
          <p:nvPr>
            <p:ph type="dt" sz="half" idx="10"/>
          </p:nvPr>
        </p:nvSpPr>
        <p:spPr/>
        <p:txBody>
          <a:bodyPr/>
          <a:lstStyle/>
          <a:p>
            <a:fld id="{5BFDE638-A0B3-40A3-A4F5-E237E524BD55}" type="datetimeFigureOut">
              <a:rPr lang="en-US" smtClean="0"/>
              <a:t>2/28/2026</a:t>
            </a:fld>
            <a:endParaRPr lang="en-US"/>
          </a:p>
        </p:txBody>
      </p:sp>
      <p:sp>
        <p:nvSpPr>
          <p:cNvPr id="5" name="Footer Placeholder 4">
            <a:extLst>
              <a:ext uri="{FF2B5EF4-FFF2-40B4-BE49-F238E27FC236}">
                <a16:creationId xmlns:a16="http://schemas.microsoft.com/office/drawing/2014/main" id="{3991CFAA-2E36-4B46-B5FB-E0D624B90E2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4839EBB-C18F-85D4-1A8B-D85BCA73CF07}"/>
              </a:ext>
            </a:extLst>
          </p:cNvPr>
          <p:cNvSpPr>
            <a:spLocks noGrp="1"/>
          </p:cNvSpPr>
          <p:nvPr>
            <p:ph type="sldNum" sz="quarter" idx="12"/>
          </p:nvPr>
        </p:nvSpPr>
        <p:spPr/>
        <p:txBody>
          <a:bodyPr/>
          <a:lstStyle/>
          <a:p>
            <a:fld id="{9487F0E9-37EF-4EDB-B09A-CD819418B671}" type="slidenum">
              <a:rPr lang="en-US" smtClean="0"/>
              <a:t>‹#›</a:t>
            </a:fld>
            <a:endParaRPr lang="en-US"/>
          </a:p>
        </p:txBody>
      </p:sp>
    </p:spTree>
    <p:extLst>
      <p:ext uri="{BB962C8B-B14F-4D97-AF65-F5344CB8AC3E}">
        <p14:creationId xmlns:p14="http://schemas.microsoft.com/office/powerpoint/2010/main" val="155528962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C1F3722-B676-4948-D2E5-CC7D2DE52B5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521923B-8BA1-7049-8669-D111135D910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C04E4F5-EB07-D619-3EDA-1785C1886486}"/>
              </a:ext>
            </a:extLst>
          </p:cNvPr>
          <p:cNvSpPr>
            <a:spLocks noGrp="1"/>
          </p:cNvSpPr>
          <p:nvPr>
            <p:ph type="dt" sz="half" idx="10"/>
          </p:nvPr>
        </p:nvSpPr>
        <p:spPr/>
        <p:txBody>
          <a:bodyPr/>
          <a:lstStyle/>
          <a:p>
            <a:fld id="{5BFDE638-A0B3-40A3-A4F5-E237E524BD55}" type="datetimeFigureOut">
              <a:rPr lang="en-US" smtClean="0"/>
              <a:t>2/28/2026</a:t>
            </a:fld>
            <a:endParaRPr lang="en-US"/>
          </a:p>
        </p:txBody>
      </p:sp>
      <p:sp>
        <p:nvSpPr>
          <p:cNvPr id="5" name="Footer Placeholder 4">
            <a:extLst>
              <a:ext uri="{FF2B5EF4-FFF2-40B4-BE49-F238E27FC236}">
                <a16:creationId xmlns:a16="http://schemas.microsoft.com/office/drawing/2014/main" id="{A94D8952-B2E3-5C43-FEFE-CF7DAB5851E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4709865-C1E4-2F0F-8FFE-038CAB64E1B1}"/>
              </a:ext>
            </a:extLst>
          </p:cNvPr>
          <p:cNvSpPr>
            <a:spLocks noGrp="1"/>
          </p:cNvSpPr>
          <p:nvPr>
            <p:ph type="sldNum" sz="quarter" idx="12"/>
          </p:nvPr>
        </p:nvSpPr>
        <p:spPr/>
        <p:txBody>
          <a:bodyPr/>
          <a:lstStyle/>
          <a:p>
            <a:fld id="{9487F0E9-37EF-4EDB-B09A-CD819418B671}" type="slidenum">
              <a:rPr lang="en-US" smtClean="0"/>
              <a:t>‹#›</a:t>
            </a:fld>
            <a:endParaRPr lang="en-US"/>
          </a:p>
        </p:txBody>
      </p:sp>
    </p:spTree>
    <p:extLst>
      <p:ext uri="{BB962C8B-B14F-4D97-AF65-F5344CB8AC3E}">
        <p14:creationId xmlns:p14="http://schemas.microsoft.com/office/powerpoint/2010/main" val="2222633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8CCF586-9367-2126-297A-A9612D230C6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E1422B9-4BDB-6ACB-53BF-BA37EED4835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9C9F971-E7D0-BE80-CE0B-D4C03095982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BFDE638-A0B3-40A3-A4F5-E237E524BD55}" type="datetimeFigureOut">
              <a:rPr lang="en-US" smtClean="0"/>
              <a:t>2/28/2026</a:t>
            </a:fld>
            <a:endParaRPr lang="en-US"/>
          </a:p>
        </p:txBody>
      </p:sp>
      <p:sp>
        <p:nvSpPr>
          <p:cNvPr id="5" name="Footer Placeholder 4">
            <a:extLst>
              <a:ext uri="{FF2B5EF4-FFF2-40B4-BE49-F238E27FC236}">
                <a16:creationId xmlns:a16="http://schemas.microsoft.com/office/drawing/2014/main" id="{867F7A53-4A64-A42A-B827-ED792B60B85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01F75C16-2FB9-3C4D-FD30-D071AEF7874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487F0E9-37EF-4EDB-B09A-CD819418B671}" type="slidenum">
              <a:rPr lang="en-US" smtClean="0"/>
              <a:t>‹#›</a:t>
            </a:fld>
            <a:endParaRPr lang="en-US"/>
          </a:p>
        </p:txBody>
      </p:sp>
    </p:spTree>
    <p:extLst>
      <p:ext uri="{BB962C8B-B14F-4D97-AF65-F5344CB8AC3E}">
        <p14:creationId xmlns:p14="http://schemas.microsoft.com/office/powerpoint/2010/main" val="202482193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audio" Target="../media/media1.m4a"/><Relationship Id="rId1" Type="http://schemas.microsoft.com/office/2007/relationships/media" Target="../media/media1.m4a"/><Relationship Id="rId5" Type="http://schemas.openxmlformats.org/officeDocument/2006/relationships/image" Target="../media/image1.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2.m4a"/><Relationship Id="rId1" Type="http://schemas.microsoft.com/office/2007/relationships/media" Target="../media/media2.m4a"/><Relationship Id="rId5" Type="http://schemas.openxmlformats.org/officeDocument/2006/relationships/image" Target="../media/image1.pn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3.m4a"/><Relationship Id="rId1" Type="http://schemas.microsoft.com/office/2007/relationships/media" Target="../media/media3.m4a"/><Relationship Id="rId5" Type="http://schemas.openxmlformats.org/officeDocument/2006/relationships/image" Target="../media/image1.pn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4.m4a"/><Relationship Id="rId1" Type="http://schemas.microsoft.com/office/2007/relationships/media" Target="../media/media4.m4a"/><Relationship Id="rId5" Type="http://schemas.openxmlformats.org/officeDocument/2006/relationships/image" Target="../media/image1.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5.m4a"/><Relationship Id="rId1" Type="http://schemas.microsoft.com/office/2007/relationships/media" Target="../media/media5.m4a"/><Relationship Id="rId6" Type="http://schemas.openxmlformats.org/officeDocument/2006/relationships/image" Target="../media/image1.png"/><Relationship Id="rId5" Type="http://schemas.openxmlformats.org/officeDocument/2006/relationships/image" Target="../media/image2.pn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6.m4a"/><Relationship Id="rId1" Type="http://schemas.microsoft.com/office/2007/relationships/media" Target="../media/media6.m4a"/><Relationship Id="rId6" Type="http://schemas.openxmlformats.org/officeDocument/2006/relationships/image" Target="../media/image1.png"/><Relationship Id="rId5" Type="http://schemas.openxmlformats.org/officeDocument/2006/relationships/image" Target="../media/image3.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7.m4a"/><Relationship Id="rId1" Type="http://schemas.microsoft.com/office/2007/relationships/media" Target="../media/media7.m4a"/><Relationship Id="rId6" Type="http://schemas.openxmlformats.org/officeDocument/2006/relationships/image" Target="../media/image1.png"/><Relationship Id="rId5" Type="http://schemas.openxmlformats.org/officeDocument/2006/relationships/image" Target="../media/image4.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8.m4a"/><Relationship Id="rId1" Type="http://schemas.microsoft.com/office/2007/relationships/media" Target="../media/media8.m4a"/><Relationship Id="rId6" Type="http://schemas.openxmlformats.org/officeDocument/2006/relationships/image" Target="../media/image1.png"/><Relationship Id="rId5" Type="http://schemas.openxmlformats.org/officeDocument/2006/relationships/image" Target="../media/image5.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9.m4a"/><Relationship Id="rId1" Type="http://schemas.microsoft.com/office/2007/relationships/media" Target="../media/media9.m4a"/><Relationship Id="rId5" Type="http://schemas.openxmlformats.org/officeDocument/2006/relationships/image" Target="../media/image1.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0.m4a"/><Relationship Id="rId1" Type="http://schemas.microsoft.com/office/2007/relationships/media" Target="../media/media10.m4a"/><Relationship Id="rId5" Type="http://schemas.openxmlformats.org/officeDocument/2006/relationships/image" Target="../media/image1.png"/><Relationship Id="rId4"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31DCCD-C805-861A-14AB-73583DC8F4E1}"/>
              </a:ext>
            </a:extLst>
          </p:cNvPr>
          <p:cNvSpPr>
            <a:spLocks noGrp="1"/>
          </p:cNvSpPr>
          <p:nvPr>
            <p:ph type="ctrTitle"/>
          </p:nvPr>
        </p:nvSpPr>
        <p:spPr>
          <a:xfrm>
            <a:off x="1524000" y="92597"/>
            <a:ext cx="9144000" cy="3417366"/>
          </a:xfrm>
        </p:spPr>
        <p:txBody>
          <a:bodyPr>
            <a:normAutofit/>
          </a:bodyPr>
          <a:lstStyle/>
          <a:p>
            <a:r>
              <a:rPr lang="en-US" dirty="0">
                <a:effectLst/>
              </a:rPr>
              <a:t>Predicting Telecom Customer Churn</a:t>
            </a:r>
            <a:endParaRPr lang="en-US" dirty="0"/>
          </a:p>
        </p:txBody>
      </p:sp>
      <p:sp>
        <p:nvSpPr>
          <p:cNvPr id="3" name="Subtitle 2">
            <a:extLst>
              <a:ext uri="{FF2B5EF4-FFF2-40B4-BE49-F238E27FC236}">
                <a16:creationId xmlns:a16="http://schemas.microsoft.com/office/drawing/2014/main" id="{3D03B1CC-3A10-E8C5-C111-6967A4507E09}"/>
              </a:ext>
            </a:extLst>
          </p:cNvPr>
          <p:cNvSpPr>
            <a:spLocks noGrp="1"/>
          </p:cNvSpPr>
          <p:nvPr>
            <p:ph type="subTitle" idx="1"/>
          </p:nvPr>
        </p:nvSpPr>
        <p:spPr>
          <a:xfrm>
            <a:off x="1524000" y="3622876"/>
            <a:ext cx="9144000" cy="1634924"/>
          </a:xfrm>
        </p:spPr>
        <p:txBody>
          <a:bodyPr>
            <a:normAutofit fontScale="92500" lnSpcReduction="10000"/>
          </a:bodyPr>
          <a:lstStyle/>
          <a:p>
            <a:endParaRPr lang="en-US" dirty="0"/>
          </a:p>
          <a:p>
            <a:r>
              <a:rPr lang="en-US" dirty="0">
                <a:effectLst/>
              </a:rPr>
              <a:t>Identifying Subscribers Likely to Leave and Why </a:t>
            </a:r>
          </a:p>
          <a:p>
            <a:r>
              <a:rPr lang="en-US" dirty="0"/>
              <a:t>Alex Spence</a:t>
            </a:r>
          </a:p>
          <a:p>
            <a:r>
              <a:rPr lang="en-US" dirty="0"/>
              <a:t>DSC 680 Project 3</a:t>
            </a:r>
          </a:p>
          <a:p>
            <a:endParaRPr lang="en-US" dirty="0"/>
          </a:p>
        </p:txBody>
      </p:sp>
      <p:pic>
        <p:nvPicPr>
          <p:cNvPr id="8" name="Audio 7">
            <a:hlinkClick r:id="" action="ppaction://media"/>
            <a:extLst>
              <a:ext uri="{FF2B5EF4-FFF2-40B4-BE49-F238E27FC236}">
                <a16:creationId xmlns:a16="http://schemas.microsoft.com/office/drawing/2014/main" id="{D5A9CC81-A3BB-445E-A4E9-75D089FEAFAC}"/>
              </a:ext>
            </a:extLst>
          </p:cNvPr>
          <p:cNvPicPr>
            <a:picLocks noChangeAspect="1"/>
          </p:cNvPicPr>
          <p:nvPr>
            <a:audioFile r:link="rId2"/>
            <p:extLst>
              <p:ext uri="{DAA4B4D4-6D71-4841-9C94-3DE7FCFB9230}">
                <p14:media xmlns:p14="http://schemas.microsoft.com/office/powerpoint/2010/main" r:embed="rId1"/>
              </p:ext>
            </p:extLst>
          </p:nvPr>
        </p:nvPicPr>
        <p:blipFill>
          <a:blip r:embed="rId5"/>
          <a:srcRect l="-118750" t="-118750" r="-118750" b="-118750"/>
          <a:stretch>
            <a:fillRect/>
          </a:stretch>
        </p:blipFill>
        <p:spPr>
          <a:xfrm>
            <a:off x="10052304" y="4718304"/>
            <a:ext cx="2057400" cy="2057400"/>
          </a:xfrm>
          <a:prstGeom prst="ellipse">
            <a:avLst/>
          </a:prstGeom>
        </p:spPr>
      </p:pic>
    </p:spTree>
    <p:extLst>
      <p:ext uri="{BB962C8B-B14F-4D97-AF65-F5344CB8AC3E}">
        <p14:creationId xmlns:p14="http://schemas.microsoft.com/office/powerpoint/2010/main" val="81709348"/>
      </p:ext>
    </p:extLst>
  </p:cSld>
  <p:clrMapOvr>
    <a:masterClrMapping/>
  </p:clrMapOvr>
  <mc:AlternateContent xmlns:mc="http://schemas.openxmlformats.org/markup-compatibility/2006">
    <mc:Choice xmlns:p14="http://schemas.microsoft.com/office/powerpoint/2010/main" Requires="p14">
      <p:transition spd="slow" p14:dur="2000" advTm="24459"/>
    </mc:Choice>
    <mc:Fallback>
      <p:transition spd="slow" advTm="24459"/>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8"/>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8"/>
                </p:tgtEl>
              </p:cMediaNode>
            </p:audio>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0110DA-4ED7-19FB-83E1-1AF42C02A6B4}"/>
              </a:ext>
            </a:extLst>
          </p:cNvPr>
          <p:cNvSpPr>
            <a:spLocks noGrp="1"/>
          </p:cNvSpPr>
          <p:nvPr>
            <p:ph type="title"/>
          </p:nvPr>
        </p:nvSpPr>
        <p:spPr/>
        <p:txBody>
          <a:bodyPr/>
          <a:lstStyle/>
          <a:p>
            <a:r>
              <a:rPr lang="en-US" dirty="0">
                <a:effectLst/>
              </a:rPr>
              <a:t>Business Problem</a:t>
            </a:r>
            <a:endParaRPr lang="en-US" dirty="0"/>
          </a:p>
        </p:txBody>
      </p:sp>
      <p:sp>
        <p:nvSpPr>
          <p:cNvPr id="3" name="Content Placeholder 2">
            <a:extLst>
              <a:ext uri="{FF2B5EF4-FFF2-40B4-BE49-F238E27FC236}">
                <a16:creationId xmlns:a16="http://schemas.microsoft.com/office/drawing/2014/main" id="{403794CB-65C6-7EF3-680B-7D2D830FE7E9}"/>
              </a:ext>
            </a:extLst>
          </p:cNvPr>
          <p:cNvSpPr>
            <a:spLocks noGrp="1"/>
          </p:cNvSpPr>
          <p:nvPr>
            <p:ph idx="1"/>
          </p:nvPr>
        </p:nvSpPr>
        <p:spPr/>
        <p:txBody>
          <a:bodyPr>
            <a:normAutofit/>
          </a:bodyPr>
          <a:lstStyle/>
          <a:p>
            <a:r>
              <a:rPr lang="en-US" dirty="0">
                <a:effectLst/>
              </a:rPr>
              <a:t>Churn = lost revenue &amp; high acquisition costs (5–7× more expensive to replace)</a:t>
            </a:r>
          </a:p>
          <a:p>
            <a:r>
              <a:rPr lang="en-US" dirty="0">
                <a:effectLst/>
              </a:rPr>
              <a:t>Goal: Predict at-risk customers early → targeted retention (discounts, upgrades, support)</a:t>
            </a:r>
          </a:p>
          <a:p>
            <a:r>
              <a:rPr lang="en-US" dirty="0">
                <a:effectLst/>
              </a:rPr>
              <a:t>Research questions: Top drivers? Better than simple rules? Actionable insights?</a:t>
            </a:r>
          </a:p>
          <a:p>
            <a:pPr marL="0" indent="0">
              <a:buNone/>
            </a:pPr>
            <a:endParaRPr lang="en-US" dirty="0"/>
          </a:p>
        </p:txBody>
      </p:sp>
      <p:pic>
        <p:nvPicPr>
          <p:cNvPr id="8" name="Audio 7">
            <a:hlinkClick r:id="" action="ppaction://media"/>
            <a:extLst>
              <a:ext uri="{FF2B5EF4-FFF2-40B4-BE49-F238E27FC236}">
                <a16:creationId xmlns:a16="http://schemas.microsoft.com/office/drawing/2014/main" id="{262EDBB8-4F0E-7968-8C55-BEC5E9E3F17D}"/>
              </a:ext>
            </a:extLst>
          </p:cNvPr>
          <p:cNvPicPr>
            <a:picLocks noChangeAspect="1"/>
          </p:cNvPicPr>
          <p:nvPr>
            <a:audioFile r:link="rId2"/>
            <p:extLst>
              <p:ext uri="{DAA4B4D4-6D71-4841-9C94-3DE7FCFB9230}">
                <p14:media xmlns:p14="http://schemas.microsoft.com/office/powerpoint/2010/main" r:embed="rId1"/>
              </p:ext>
            </p:extLst>
          </p:nvPr>
        </p:nvPicPr>
        <p:blipFill>
          <a:blip r:embed="rId5"/>
          <a:srcRect l="-118750" t="-118750" r="-118750" b="-118750"/>
          <a:stretch>
            <a:fillRect/>
          </a:stretch>
        </p:blipFill>
        <p:spPr>
          <a:xfrm>
            <a:off x="10052304" y="4718304"/>
            <a:ext cx="2057400" cy="2057400"/>
          </a:xfrm>
          <a:prstGeom prst="ellipse">
            <a:avLst/>
          </a:prstGeom>
        </p:spPr>
      </p:pic>
    </p:spTree>
    <p:extLst>
      <p:ext uri="{BB962C8B-B14F-4D97-AF65-F5344CB8AC3E}">
        <p14:creationId xmlns:p14="http://schemas.microsoft.com/office/powerpoint/2010/main" val="1438190413"/>
      </p:ext>
    </p:extLst>
  </p:cSld>
  <p:clrMapOvr>
    <a:masterClrMapping/>
  </p:clrMapOvr>
  <mc:AlternateContent xmlns:mc="http://schemas.openxmlformats.org/markup-compatibility/2006">
    <mc:Choice xmlns:p14="http://schemas.microsoft.com/office/powerpoint/2010/main" Requires="p14">
      <p:transition spd="slow" p14:dur="2000" advTm="35421"/>
    </mc:Choice>
    <mc:Fallback>
      <p:transition spd="slow" advTm="35421"/>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8"/>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8"/>
                </p:tgtEl>
              </p:cMediaNode>
            </p:audio>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02B61F-9491-AB81-6144-FD431D5D527A}"/>
              </a:ext>
            </a:extLst>
          </p:cNvPr>
          <p:cNvSpPr>
            <a:spLocks noGrp="1"/>
          </p:cNvSpPr>
          <p:nvPr>
            <p:ph type="title"/>
          </p:nvPr>
        </p:nvSpPr>
        <p:spPr/>
        <p:txBody>
          <a:bodyPr/>
          <a:lstStyle/>
          <a:p>
            <a:r>
              <a:rPr lang="en-US" dirty="0">
                <a:effectLst/>
              </a:rPr>
              <a:t>Data &amp; Preparation</a:t>
            </a:r>
            <a:endParaRPr lang="en-US" dirty="0"/>
          </a:p>
        </p:txBody>
      </p:sp>
      <p:sp>
        <p:nvSpPr>
          <p:cNvPr id="3" name="Content Placeholder 2">
            <a:extLst>
              <a:ext uri="{FF2B5EF4-FFF2-40B4-BE49-F238E27FC236}">
                <a16:creationId xmlns:a16="http://schemas.microsoft.com/office/drawing/2014/main" id="{77FFF46A-F8BE-26FA-41B8-9310F132322D}"/>
              </a:ext>
            </a:extLst>
          </p:cNvPr>
          <p:cNvSpPr>
            <a:spLocks noGrp="1"/>
          </p:cNvSpPr>
          <p:nvPr>
            <p:ph idx="1"/>
          </p:nvPr>
        </p:nvSpPr>
        <p:spPr/>
        <p:txBody>
          <a:bodyPr/>
          <a:lstStyle/>
          <a:p>
            <a:r>
              <a:rPr lang="en-US" dirty="0">
                <a:effectLst/>
              </a:rPr>
              <a:t>Dataset: Telco Customer Churn (Kaggle)</a:t>
            </a:r>
          </a:p>
          <a:p>
            <a:r>
              <a:rPr lang="en-US" dirty="0">
                <a:effectLst/>
              </a:rPr>
              <a:t>7,043 customers, 21 original features</a:t>
            </a:r>
          </a:p>
          <a:p>
            <a:r>
              <a:rPr lang="en-US" dirty="0">
                <a:effectLst/>
              </a:rPr>
              <a:t>Features: tenure, charges, contract type, services (internet/phone/streaming/security), demographics</a:t>
            </a:r>
          </a:p>
          <a:p>
            <a:r>
              <a:rPr lang="en-US" dirty="0">
                <a:effectLst/>
              </a:rPr>
              <a:t>Prep: Encoding, derived features (avg charge, service count), final shape ~7,043 × 45</a:t>
            </a:r>
          </a:p>
          <a:p>
            <a:r>
              <a:rPr lang="en-US" dirty="0">
                <a:effectLst/>
              </a:rPr>
              <a:t>Churn rate: ~26.5%</a:t>
            </a:r>
          </a:p>
          <a:p>
            <a:pPr marL="0" indent="0">
              <a:buNone/>
            </a:pPr>
            <a:endParaRPr lang="en-US" dirty="0"/>
          </a:p>
        </p:txBody>
      </p:sp>
      <p:pic>
        <p:nvPicPr>
          <p:cNvPr id="5" name="Audio 4">
            <a:hlinkClick r:id="" action="ppaction://media"/>
            <a:extLst>
              <a:ext uri="{FF2B5EF4-FFF2-40B4-BE49-F238E27FC236}">
                <a16:creationId xmlns:a16="http://schemas.microsoft.com/office/drawing/2014/main" id="{FDF32A6F-6414-8A3A-13AE-65666A42B040}"/>
              </a:ext>
            </a:extLst>
          </p:cNvPr>
          <p:cNvPicPr>
            <a:picLocks noChangeAspect="1"/>
          </p:cNvPicPr>
          <p:nvPr>
            <a:audioFile r:link="rId2"/>
            <p:extLst>
              <p:ext uri="{DAA4B4D4-6D71-4841-9C94-3DE7FCFB9230}">
                <p14:media xmlns:p14="http://schemas.microsoft.com/office/powerpoint/2010/main" r:embed="rId1"/>
              </p:ext>
            </p:extLst>
          </p:nvPr>
        </p:nvPicPr>
        <p:blipFill>
          <a:blip r:embed="rId5"/>
          <a:srcRect l="-118750" t="-118750" r="-118750" b="-118750"/>
          <a:stretch>
            <a:fillRect/>
          </a:stretch>
        </p:blipFill>
        <p:spPr>
          <a:xfrm>
            <a:off x="10052304" y="4718304"/>
            <a:ext cx="2057400" cy="2057400"/>
          </a:xfrm>
          <a:prstGeom prst="ellipse">
            <a:avLst/>
          </a:prstGeom>
        </p:spPr>
      </p:pic>
    </p:spTree>
    <p:extLst>
      <p:ext uri="{BB962C8B-B14F-4D97-AF65-F5344CB8AC3E}">
        <p14:creationId xmlns:p14="http://schemas.microsoft.com/office/powerpoint/2010/main" val="1131864392"/>
      </p:ext>
    </p:extLst>
  </p:cSld>
  <p:clrMapOvr>
    <a:masterClrMapping/>
  </p:clrMapOvr>
  <mc:AlternateContent xmlns:mc="http://schemas.openxmlformats.org/markup-compatibility/2006">
    <mc:Choice xmlns:p14="http://schemas.microsoft.com/office/powerpoint/2010/main" Requires="p14">
      <p:transition spd="slow" p14:dur="2000" advTm="38319"/>
    </mc:Choice>
    <mc:Fallback>
      <p:transition spd="slow" advTm="38319"/>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5"/>
                </p:tgtEl>
              </p:cMediaNode>
            </p:audio>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629DE3-54C9-722A-C2EB-7FE20302BF60}"/>
              </a:ext>
            </a:extLst>
          </p:cNvPr>
          <p:cNvSpPr>
            <a:spLocks noGrp="1"/>
          </p:cNvSpPr>
          <p:nvPr>
            <p:ph type="title"/>
          </p:nvPr>
        </p:nvSpPr>
        <p:spPr/>
        <p:txBody>
          <a:bodyPr/>
          <a:lstStyle/>
          <a:p>
            <a:r>
              <a:rPr lang="en-US" dirty="0">
                <a:effectLst/>
              </a:rPr>
              <a:t>Methods</a:t>
            </a:r>
            <a:endParaRPr lang="en-US" dirty="0"/>
          </a:p>
        </p:txBody>
      </p:sp>
      <p:sp>
        <p:nvSpPr>
          <p:cNvPr id="3" name="Content Placeholder 2">
            <a:extLst>
              <a:ext uri="{FF2B5EF4-FFF2-40B4-BE49-F238E27FC236}">
                <a16:creationId xmlns:a16="http://schemas.microsoft.com/office/drawing/2014/main" id="{6439EF89-2C0B-3D25-7ED5-2BF591F189A8}"/>
              </a:ext>
            </a:extLst>
          </p:cNvPr>
          <p:cNvSpPr>
            <a:spLocks noGrp="1"/>
          </p:cNvSpPr>
          <p:nvPr>
            <p:ph idx="1"/>
          </p:nvPr>
        </p:nvSpPr>
        <p:spPr/>
        <p:txBody>
          <a:bodyPr/>
          <a:lstStyle/>
          <a:p>
            <a:r>
              <a:rPr lang="en-US" dirty="0">
                <a:effectLst/>
              </a:rPr>
              <a:t>80/20 train/test split (manual balanced)</a:t>
            </a:r>
          </a:p>
          <a:p>
            <a:r>
              <a:rPr lang="en-US" dirty="0">
                <a:effectLst/>
              </a:rPr>
              <a:t>Baseline: Logistic regression</a:t>
            </a:r>
          </a:p>
          <a:p>
            <a:r>
              <a:rPr lang="en-US" dirty="0">
                <a:effectLst/>
              </a:rPr>
              <a:t>Main model: </a:t>
            </a:r>
            <a:r>
              <a:rPr lang="en-US" dirty="0" err="1">
                <a:effectLst/>
              </a:rPr>
              <a:t>XGBoost</a:t>
            </a:r>
            <a:r>
              <a:rPr lang="en-US" dirty="0">
                <a:effectLst/>
              </a:rPr>
              <a:t> (class weighting, CV tuning)</a:t>
            </a:r>
          </a:p>
          <a:p>
            <a:r>
              <a:rPr lang="en-US" dirty="0">
                <a:effectLst/>
              </a:rPr>
              <a:t>Evaluation: AUC-ROC, precision-recall, SHAP for interpretability</a:t>
            </a:r>
          </a:p>
          <a:p>
            <a:pPr marL="0" indent="0">
              <a:buNone/>
            </a:pPr>
            <a:endParaRPr lang="en-US" dirty="0"/>
          </a:p>
        </p:txBody>
      </p:sp>
      <p:pic>
        <p:nvPicPr>
          <p:cNvPr id="5" name="Audio 4">
            <a:hlinkClick r:id="" action="ppaction://media"/>
            <a:extLst>
              <a:ext uri="{FF2B5EF4-FFF2-40B4-BE49-F238E27FC236}">
                <a16:creationId xmlns:a16="http://schemas.microsoft.com/office/drawing/2014/main" id="{FF688493-B102-51E9-B53A-32DF76C08979}"/>
              </a:ext>
            </a:extLst>
          </p:cNvPr>
          <p:cNvPicPr>
            <a:picLocks noChangeAspect="1"/>
          </p:cNvPicPr>
          <p:nvPr>
            <a:audioFile r:link="rId2"/>
            <p:extLst>
              <p:ext uri="{DAA4B4D4-6D71-4841-9C94-3DE7FCFB9230}">
                <p14:media xmlns:p14="http://schemas.microsoft.com/office/powerpoint/2010/main" r:embed="rId1"/>
              </p:ext>
            </p:extLst>
          </p:nvPr>
        </p:nvPicPr>
        <p:blipFill>
          <a:blip r:embed="rId5"/>
          <a:srcRect l="-118750" t="-118750" r="-118750" b="-118750"/>
          <a:stretch>
            <a:fillRect/>
          </a:stretch>
        </p:blipFill>
        <p:spPr>
          <a:xfrm>
            <a:off x="10052304" y="4718304"/>
            <a:ext cx="2057400" cy="2057400"/>
          </a:xfrm>
          <a:prstGeom prst="ellipse">
            <a:avLst/>
          </a:prstGeom>
        </p:spPr>
      </p:pic>
    </p:spTree>
    <p:extLst>
      <p:ext uri="{BB962C8B-B14F-4D97-AF65-F5344CB8AC3E}">
        <p14:creationId xmlns:p14="http://schemas.microsoft.com/office/powerpoint/2010/main" val="3798798326"/>
      </p:ext>
    </p:extLst>
  </p:cSld>
  <p:clrMapOvr>
    <a:masterClrMapping/>
  </p:clrMapOvr>
  <mc:AlternateContent xmlns:mc="http://schemas.openxmlformats.org/markup-compatibility/2006">
    <mc:Choice xmlns:p14="http://schemas.microsoft.com/office/powerpoint/2010/main" Requires="p14">
      <p:transition spd="slow" p14:dur="2000" advTm="35685"/>
    </mc:Choice>
    <mc:Fallback>
      <p:transition spd="slow" advTm="35685"/>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5"/>
                </p:tgtEl>
              </p:cMediaNode>
            </p:audio>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0724F7-5B89-3265-276E-E8890BB83C53}"/>
              </a:ext>
            </a:extLst>
          </p:cNvPr>
          <p:cNvSpPr>
            <a:spLocks noGrp="1"/>
          </p:cNvSpPr>
          <p:nvPr>
            <p:ph type="title"/>
          </p:nvPr>
        </p:nvSpPr>
        <p:spPr/>
        <p:txBody>
          <a:bodyPr/>
          <a:lstStyle/>
          <a:p>
            <a:r>
              <a:rPr lang="en-US" dirty="0">
                <a:effectLst/>
              </a:rPr>
              <a:t>Results Overview</a:t>
            </a:r>
            <a:endParaRPr lang="en-US" dirty="0"/>
          </a:p>
        </p:txBody>
      </p:sp>
      <p:sp>
        <p:nvSpPr>
          <p:cNvPr id="3" name="Content Placeholder 2">
            <a:extLst>
              <a:ext uri="{FF2B5EF4-FFF2-40B4-BE49-F238E27FC236}">
                <a16:creationId xmlns:a16="http://schemas.microsoft.com/office/drawing/2014/main" id="{67190E9E-A2EA-6DA4-9F3E-C256C3256760}"/>
              </a:ext>
            </a:extLst>
          </p:cNvPr>
          <p:cNvSpPr>
            <a:spLocks noGrp="1"/>
          </p:cNvSpPr>
          <p:nvPr>
            <p:ph idx="1"/>
          </p:nvPr>
        </p:nvSpPr>
        <p:spPr/>
        <p:txBody>
          <a:bodyPr/>
          <a:lstStyle/>
          <a:p>
            <a:r>
              <a:rPr lang="en-US" dirty="0">
                <a:effectLst/>
              </a:rPr>
              <a:t>AUC-ROC: .845</a:t>
            </a:r>
          </a:p>
          <a:p>
            <a:r>
              <a:rPr lang="en-US" dirty="0">
                <a:effectLst/>
              </a:rPr>
              <a:t>Top drivers: Month-to-month contract, tenure, monthly charges, total services, tech support</a:t>
            </a:r>
          </a:p>
          <a:p>
            <a:pPr marL="0" indent="0">
              <a:buNone/>
            </a:pPr>
            <a:endParaRPr lang="en-US" dirty="0"/>
          </a:p>
        </p:txBody>
      </p:sp>
      <p:pic>
        <p:nvPicPr>
          <p:cNvPr id="4" name="Picture 3">
            <a:extLst>
              <a:ext uri="{FF2B5EF4-FFF2-40B4-BE49-F238E27FC236}">
                <a16:creationId xmlns:a16="http://schemas.microsoft.com/office/drawing/2014/main" id="{74177178-8E14-C7B3-34DE-6663D79E42C3}"/>
              </a:ext>
            </a:extLst>
          </p:cNvPr>
          <p:cNvPicPr>
            <a:picLocks noChangeAspect="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3274671" y="3205038"/>
            <a:ext cx="5943600" cy="3526790"/>
          </a:xfrm>
          <a:prstGeom prst="rect">
            <a:avLst/>
          </a:prstGeom>
          <a:noFill/>
          <a:ln>
            <a:noFill/>
          </a:ln>
        </p:spPr>
      </p:pic>
      <p:pic>
        <p:nvPicPr>
          <p:cNvPr id="18" name="Audio 17">
            <a:hlinkClick r:id="" action="ppaction://media"/>
            <a:extLst>
              <a:ext uri="{FF2B5EF4-FFF2-40B4-BE49-F238E27FC236}">
                <a16:creationId xmlns:a16="http://schemas.microsoft.com/office/drawing/2014/main" id="{3A469D96-CE2E-F700-F34E-6FF063292E10}"/>
              </a:ext>
            </a:extLst>
          </p:cNvPr>
          <p:cNvPicPr>
            <a:picLocks noChangeAspect="1"/>
          </p:cNvPicPr>
          <p:nvPr>
            <a:audioFile r:link="rId2"/>
            <p:extLst>
              <p:ext uri="{DAA4B4D4-6D71-4841-9C94-3DE7FCFB9230}">
                <p14:media xmlns:p14="http://schemas.microsoft.com/office/powerpoint/2010/main" r:embed="rId1"/>
              </p:ext>
            </p:extLst>
          </p:nvPr>
        </p:nvPicPr>
        <p:blipFill>
          <a:blip r:embed="rId6"/>
          <a:srcRect l="-118750" t="-118750" r="-118750" b="-118750"/>
          <a:stretch>
            <a:fillRect/>
          </a:stretch>
        </p:blipFill>
        <p:spPr>
          <a:xfrm>
            <a:off x="10052304" y="4718304"/>
            <a:ext cx="2057400" cy="2057400"/>
          </a:xfrm>
          <a:prstGeom prst="ellipse">
            <a:avLst/>
          </a:prstGeom>
        </p:spPr>
      </p:pic>
    </p:spTree>
    <p:extLst>
      <p:ext uri="{BB962C8B-B14F-4D97-AF65-F5344CB8AC3E}">
        <p14:creationId xmlns:p14="http://schemas.microsoft.com/office/powerpoint/2010/main" val="908434689"/>
      </p:ext>
    </p:extLst>
  </p:cSld>
  <p:clrMapOvr>
    <a:masterClrMapping/>
  </p:clrMapOvr>
  <mc:AlternateContent xmlns:mc="http://schemas.openxmlformats.org/markup-compatibility/2006">
    <mc:Choice xmlns:p14="http://schemas.microsoft.com/office/powerpoint/2010/main" Requires="p14">
      <p:transition spd="slow" p14:dur="2000" advTm="39466"/>
    </mc:Choice>
    <mc:Fallback>
      <p:transition spd="slow" advTm="39466"/>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8"/>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18"/>
                </p:tgtEl>
              </p:cMediaNode>
            </p:audio>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D95F2F-874A-80DB-DD49-0D5413A4AB69}"/>
              </a:ext>
            </a:extLst>
          </p:cNvPr>
          <p:cNvSpPr>
            <a:spLocks noGrp="1"/>
          </p:cNvSpPr>
          <p:nvPr>
            <p:ph type="title"/>
          </p:nvPr>
        </p:nvSpPr>
        <p:spPr/>
        <p:txBody>
          <a:bodyPr/>
          <a:lstStyle/>
          <a:p>
            <a:r>
              <a:rPr lang="en-US" dirty="0">
                <a:effectLst/>
              </a:rPr>
              <a:t>SHAP Insights</a:t>
            </a:r>
            <a:endParaRPr lang="en-US" dirty="0"/>
          </a:p>
        </p:txBody>
      </p:sp>
      <p:sp>
        <p:nvSpPr>
          <p:cNvPr id="3" name="Content Placeholder 2">
            <a:extLst>
              <a:ext uri="{FF2B5EF4-FFF2-40B4-BE49-F238E27FC236}">
                <a16:creationId xmlns:a16="http://schemas.microsoft.com/office/drawing/2014/main" id="{5E205A88-BC33-D411-9F13-92CFB53C3F4E}"/>
              </a:ext>
            </a:extLst>
          </p:cNvPr>
          <p:cNvSpPr>
            <a:spLocks noGrp="1"/>
          </p:cNvSpPr>
          <p:nvPr>
            <p:ph idx="1"/>
          </p:nvPr>
        </p:nvSpPr>
        <p:spPr>
          <a:xfrm>
            <a:off x="838200" y="1825625"/>
            <a:ext cx="4831080" cy="4351338"/>
          </a:xfrm>
        </p:spPr>
        <p:txBody>
          <a:bodyPr/>
          <a:lstStyle/>
          <a:p>
            <a:r>
              <a:rPr lang="en-US" dirty="0">
                <a:effectLst/>
              </a:rPr>
              <a:t>SHAP summary: Direction &amp; magnitude of impact</a:t>
            </a:r>
          </a:p>
          <a:p>
            <a:r>
              <a:rPr lang="en-US" dirty="0">
                <a:effectLst/>
              </a:rPr>
              <a:t>High charges + month-to-month → high churn risk</a:t>
            </a:r>
          </a:p>
          <a:p>
            <a:r>
              <a:rPr lang="en-US" dirty="0">
                <a:effectLst/>
              </a:rPr>
              <a:t>Long tenure + bundled services → lower risk</a:t>
            </a:r>
          </a:p>
          <a:p>
            <a:pPr marL="0" indent="0">
              <a:buNone/>
            </a:pPr>
            <a:endParaRPr lang="en-US" dirty="0"/>
          </a:p>
        </p:txBody>
      </p:sp>
      <p:pic>
        <p:nvPicPr>
          <p:cNvPr id="4" name="Picture 3">
            <a:extLst>
              <a:ext uri="{FF2B5EF4-FFF2-40B4-BE49-F238E27FC236}">
                <a16:creationId xmlns:a16="http://schemas.microsoft.com/office/drawing/2014/main" id="{E65FA974-EF69-36C1-2AAA-35185A1E4E2A}"/>
              </a:ext>
            </a:extLst>
          </p:cNvPr>
          <p:cNvPicPr>
            <a:picLocks noChangeAspect="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096000" y="0"/>
            <a:ext cx="5943600" cy="6644640"/>
          </a:xfrm>
          <a:prstGeom prst="rect">
            <a:avLst/>
          </a:prstGeom>
          <a:noFill/>
          <a:ln>
            <a:noFill/>
          </a:ln>
        </p:spPr>
      </p:pic>
      <p:pic>
        <p:nvPicPr>
          <p:cNvPr id="9" name="Audio 8">
            <a:hlinkClick r:id="" action="ppaction://media"/>
            <a:extLst>
              <a:ext uri="{FF2B5EF4-FFF2-40B4-BE49-F238E27FC236}">
                <a16:creationId xmlns:a16="http://schemas.microsoft.com/office/drawing/2014/main" id="{DDF5CB78-CABE-DE23-817F-6556402492DE}"/>
              </a:ext>
            </a:extLst>
          </p:cNvPr>
          <p:cNvPicPr>
            <a:picLocks noChangeAspect="1"/>
          </p:cNvPicPr>
          <p:nvPr>
            <a:audioFile r:link="rId2"/>
            <p:extLst>
              <p:ext uri="{DAA4B4D4-6D71-4841-9C94-3DE7FCFB9230}">
                <p14:media xmlns:p14="http://schemas.microsoft.com/office/powerpoint/2010/main" r:embed="rId1"/>
              </p:ext>
            </p:extLst>
          </p:nvPr>
        </p:nvPicPr>
        <p:blipFill>
          <a:blip r:embed="rId6"/>
          <a:srcRect l="-118750" t="-118750" r="-118750" b="-118750"/>
          <a:stretch>
            <a:fillRect/>
          </a:stretch>
        </p:blipFill>
        <p:spPr>
          <a:xfrm>
            <a:off x="10052304" y="4718304"/>
            <a:ext cx="2057400" cy="2057400"/>
          </a:xfrm>
          <a:prstGeom prst="ellipse">
            <a:avLst/>
          </a:prstGeom>
        </p:spPr>
      </p:pic>
    </p:spTree>
    <p:extLst>
      <p:ext uri="{BB962C8B-B14F-4D97-AF65-F5344CB8AC3E}">
        <p14:creationId xmlns:p14="http://schemas.microsoft.com/office/powerpoint/2010/main" val="1998526926"/>
      </p:ext>
    </p:extLst>
  </p:cSld>
  <p:clrMapOvr>
    <a:masterClrMapping/>
  </p:clrMapOvr>
  <mc:AlternateContent xmlns:mc="http://schemas.openxmlformats.org/markup-compatibility/2006">
    <mc:Choice xmlns:p14="http://schemas.microsoft.com/office/powerpoint/2010/main" Requires="p14">
      <p:transition spd="slow" p14:dur="2000" advTm="39265"/>
    </mc:Choice>
    <mc:Fallback>
      <p:transition spd="slow" advTm="39265"/>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9"/>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9"/>
                </p:tgtEl>
              </p:cMediaNode>
            </p:audio>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8757B8-A527-615A-2354-E016F41320F7}"/>
              </a:ext>
            </a:extLst>
          </p:cNvPr>
          <p:cNvSpPr>
            <a:spLocks noGrp="1"/>
          </p:cNvSpPr>
          <p:nvPr>
            <p:ph type="title"/>
          </p:nvPr>
        </p:nvSpPr>
        <p:spPr/>
        <p:txBody>
          <a:bodyPr/>
          <a:lstStyle/>
          <a:p>
            <a:r>
              <a:rPr lang="en-US" dirty="0">
                <a:effectLst/>
              </a:rPr>
              <a:t>Model Quality</a:t>
            </a:r>
            <a:endParaRPr lang="en-US" dirty="0"/>
          </a:p>
        </p:txBody>
      </p:sp>
      <p:sp>
        <p:nvSpPr>
          <p:cNvPr id="3" name="Content Placeholder 2">
            <a:extLst>
              <a:ext uri="{FF2B5EF4-FFF2-40B4-BE49-F238E27FC236}">
                <a16:creationId xmlns:a16="http://schemas.microsoft.com/office/drawing/2014/main" id="{A524D641-6210-3317-BC30-138B5AFFCD3F}"/>
              </a:ext>
            </a:extLst>
          </p:cNvPr>
          <p:cNvSpPr>
            <a:spLocks noGrp="1"/>
          </p:cNvSpPr>
          <p:nvPr>
            <p:ph idx="1"/>
          </p:nvPr>
        </p:nvSpPr>
        <p:spPr/>
        <p:txBody>
          <a:bodyPr/>
          <a:lstStyle/>
          <a:p>
            <a:r>
              <a:rPr lang="en-US" dirty="0">
                <a:effectLst/>
              </a:rPr>
              <a:t>Precision-recall curve: Good balance for minority class</a:t>
            </a:r>
          </a:p>
          <a:p>
            <a:r>
              <a:rPr lang="en-US" dirty="0">
                <a:effectLst/>
              </a:rPr>
              <a:t>Usable threshold: ~30–40% risk (captures most churners without too many false positives)</a:t>
            </a:r>
          </a:p>
          <a:p>
            <a:endParaRPr lang="en-US" dirty="0"/>
          </a:p>
        </p:txBody>
      </p:sp>
      <p:pic>
        <p:nvPicPr>
          <p:cNvPr id="4" name="Picture 3">
            <a:extLst>
              <a:ext uri="{FF2B5EF4-FFF2-40B4-BE49-F238E27FC236}">
                <a16:creationId xmlns:a16="http://schemas.microsoft.com/office/drawing/2014/main" id="{4974A702-AF65-F14E-0820-166002C22879}"/>
              </a:ext>
            </a:extLst>
          </p:cNvPr>
          <p:cNvPicPr>
            <a:picLocks noChangeAspect="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3946928" y="3156077"/>
            <a:ext cx="5943600" cy="3531870"/>
          </a:xfrm>
          <a:prstGeom prst="rect">
            <a:avLst/>
          </a:prstGeom>
          <a:noFill/>
          <a:ln>
            <a:noFill/>
          </a:ln>
        </p:spPr>
      </p:pic>
      <p:pic>
        <p:nvPicPr>
          <p:cNvPr id="7" name="Audio 6">
            <a:hlinkClick r:id="" action="ppaction://media"/>
            <a:extLst>
              <a:ext uri="{FF2B5EF4-FFF2-40B4-BE49-F238E27FC236}">
                <a16:creationId xmlns:a16="http://schemas.microsoft.com/office/drawing/2014/main" id="{062AE7DE-73F8-9ADE-7EDB-800519322D8C}"/>
              </a:ext>
            </a:extLst>
          </p:cNvPr>
          <p:cNvPicPr>
            <a:picLocks noChangeAspect="1"/>
          </p:cNvPicPr>
          <p:nvPr>
            <a:audioFile r:link="rId2"/>
            <p:extLst>
              <p:ext uri="{DAA4B4D4-6D71-4841-9C94-3DE7FCFB9230}">
                <p14:media xmlns:p14="http://schemas.microsoft.com/office/powerpoint/2010/main" r:embed="rId1"/>
              </p:ext>
            </p:extLst>
          </p:nvPr>
        </p:nvPicPr>
        <p:blipFill>
          <a:blip r:embed="rId6"/>
          <a:srcRect l="-118750" t="-118750" r="-118750" b="-118750"/>
          <a:stretch>
            <a:fillRect/>
          </a:stretch>
        </p:blipFill>
        <p:spPr>
          <a:xfrm>
            <a:off x="10052304" y="4718304"/>
            <a:ext cx="2057400" cy="2057400"/>
          </a:xfrm>
          <a:prstGeom prst="ellipse">
            <a:avLst/>
          </a:prstGeom>
        </p:spPr>
      </p:pic>
    </p:spTree>
    <p:extLst>
      <p:ext uri="{BB962C8B-B14F-4D97-AF65-F5344CB8AC3E}">
        <p14:creationId xmlns:p14="http://schemas.microsoft.com/office/powerpoint/2010/main" val="1395888430"/>
      </p:ext>
    </p:extLst>
  </p:cSld>
  <p:clrMapOvr>
    <a:masterClrMapping/>
  </p:clrMapOvr>
  <mc:AlternateContent xmlns:mc="http://schemas.openxmlformats.org/markup-compatibility/2006">
    <mc:Choice xmlns:p14="http://schemas.microsoft.com/office/powerpoint/2010/main" Requires="p14">
      <p:transition spd="slow" p14:dur="2000" advTm="23390"/>
    </mc:Choice>
    <mc:Fallback>
      <p:transition spd="slow" advTm="2339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7"/>
                </p:tgtEl>
              </p:cMediaNode>
            </p:audio>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3CFB5A-4B08-9FCE-5A38-5A3DFA9990FF}"/>
              </a:ext>
            </a:extLst>
          </p:cNvPr>
          <p:cNvSpPr>
            <a:spLocks noGrp="1"/>
          </p:cNvSpPr>
          <p:nvPr>
            <p:ph type="title"/>
          </p:nvPr>
        </p:nvSpPr>
        <p:spPr/>
        <p:txBody>
          <a:bodyPr/>
          <a:lstStyle/>
          <a:p>
            <a:r>
              <a:rPr lang="en-US" dirty="0">
                <a:effectLst/>
              </a:rPr>
              <a:t>Practical Demo</a:t>
            </a:r>
            <a:endParaRPr lang="en-US" dirty="0"/>
          </a:p>
        </p:txBody>
      </p:sp>
      <p:sp>
        <p:nvSpPr>
          <p:cNvPr id="3" name="Content Placeholder 2">
            <a:extLst>
              <a:ext uri="{FF2B5EF4-FFF2-40B4-BE49-F238E27FC236}">
                <a16:creationId xmlns:a16="http://schemas.microsoft.com/office/drawing/2014/main" id="{D8BD32B6-7F05-5E0A-74F3-2A2465492E14}"/>
              </a:ext>
            </a:extLst>
          </p:cNvPr>
          <p:cNvSpPr>
            <a:spLocks noGrp="1"/>
          </p:cNvSpPr>
          <p:nvPr>
            <p:ph idx="1"/>
          </p:nvPr>
        </p:nvSpPr>
        <p:spPr>
          <a:xfrm>
            <a:off x="838200" y="1825625"/>
            <a:ext cx="4636008" cy="4351338"/>
          </a:xfrm>
        </p:spPr>
        <p:txBody>
          <a:bodyPr/>
          <a:lstStyle/>
          <a:p>
            <a:r>
              <a:rPr lang="en-US" dirty="0" err="1">
                <a:effectLst/>
              </a:rPr>
              <a:t>Streamlit</a:t>
            </a:r>
            <a:r>
              <a:rPr lang="en-US" dirty="0">
                <a:effectLst/>
              </a:rPr>
              <a:t> dashboard: Input tenure, charges, contract, internet, tech support → get risk % + alert</a:t>
            </a:r>
          </a:p>
          <a:p>
            <a:r>
              <a:rPr lang="en-US" dirty="0">
                <a:effectLst/>
              </a:rPr>
              <a:t>Use case: Real-time check in CRM or retention team tool</a:t>
            </a:r>
          </a:p>
          <a:p>
            <a:endParaRPr lang="en-US" dirty="0"/>
          </a:p>
        </p:txBody>
      </p:sp>
      <p:pic>
        <p:nvPicPr>
          <p:cNvPr id="4" name="Picture 3">
            <a:extLst>
              <a:ext uri="{FF2B5EF4-FFF2-40B4-BE49-F238E27FC236}">
                <a16:creationId xmlns:a16="http://schemas.microsoft.com/office/drawing/2014/main" id="{DA611F0B-9E47-F319-4233-FFA54BE9A716}"/>
              </a:ext>
            </a:extLst>
          </p:cNvPr>
          <p:cNvPicPr>
            <a:picLocks noChangeAspect="1"/>
          </p:cNvPicPr>
          <p:nvPr/>
        </p:nvPicPr>
        <p:blipFill>
          <a:blip r:embed="rId5"/>
          <a:stretch>
            <a:fillRect/>
          </a:stretch>
        </p:blipFill>
        <p:spPr>
          <a:xfrm>
            <a:off x="5652574" y="1690688"/>
            <a:ext cx="5943600" cy="4130040"/>
          </a:xfrm>
          <a:prstGeom prst="rect">
            <a:avLst/>
          </a:prstGeom>
        </p:spPr>
      </p:pic>
      <p:pic>
        <p:nvPicPr>
          <p:cNvPr id="6" name="Audio 5">
            <a:hlinkClick r:id="" action="ppaction://media"/>
            <a:extLst>
              <a:ext uri="{FF2B5EF4-FFF2-40B4-BE49-F238E27FC236}">
                <a16:creationId xmlns:a16="http://schemas.microsoft.com/office/drawing/2014/main" id="{A7D63583-B164-37FA-148E-18CE258C5D96}"/>
              </a:ext>
            </a:extLst>
          </p:cNvPr>
          <p:cNvPicPr>
            <a:picLocks noChangeAspect="1"/>
          </p:cNvPicPr>
          <p:nvPr>
            <a:audioFile r:link="rId2"/>
            <p:extLst>
              <p:ext uri="{DAA4B4D4-6D71-4841-9C94-3DE7FCFB9230}">
                <p14:media xmlns:p14="http://schemas.microsoft.com/office/powerpoint/2010/main" r:embed="rId1"/>
              </p:ext>
            </p:extLst>
          </p:nvPr>
        </p:nvPicPr>
        <p:blipFill>
          <a:blip r:embed="rId6"/>
          <a:srcRect l="-118750" t="-118750" r="-118750" b="-118750"/>
          <a:stretch>
            <a:fillRect/>
          </a:stretch>
        </p:blipFill>
        <p:spPr>
          <a:xfrm>
            <a:off x="10052304" y="4718304"/>
            <a:ext cx="2057400" cy="2057400"/>
          </a:xfrm>
          <a:prstGeom prst="ellipse">
            <a:avLst/>
          </a:prstGeom>
        </p:spPr>
      </p:pic>
    </p:spTree>
    <p:extLst>
      <p:ext uri="{BB962C8B-B14F-4D97-AF65-F5344CB8AC3E}">
        <p14:creationId xmlns:p14="http://schemas.microsoft.com/office/powerpoint/2010/main" val="3088023503"/>
      </p:ext>
    </p:extLst>
  </p:cSld>
  <p:clrMapOvr>
    <a:masterClrMapping/>
  </p:clrMapOvr>
  <mc:AlternateContent xmlns:mc="http://schemas.openxmlformats.org/markup-compatibility/2006">
    <mc:Choice xmlns:p14="http://schemas.microsoft.com/office/powerpoint/2010/main" Requires="p14">
      <p:transition spd="slow" p14:dur="2000" advTm="30030"/>
    </mc:Choice>
    <mc:Fallback>
      <p:transition spd="slow" advTm="3003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6"/>
                </p:tgtEl>
              </p:cMediaNode>
            </p:audio>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BA05BF-365E-DBC6-313F-6084E4ED70E3}"/>
              </a:ext>
            </a:extLst>
          </p:cNvPr>
          <p:cNvSpPr>
            <a:spLocks noGrp="1"/>
          </p:cNvSpPr>
          <p:nvPr>
            <p:ph type="title"/>
          </p:nvPr>
        </p:nvSpPr>
        <p:spPr/>
        <p:txBody>
          <a:bodyPr/>
          <a:lstStyle/>
          <a:p>
            <a:r>
              <a:rPr lang="en-US" dirty="0">
                <a:effectLst/>
              </a:rPr>
              <a:t>Recommendations &amp; Ethics</a:t>
            </a:r>
            <a:endParaRPr lang="en-US" dirty="0"/>
          </a:p>
        </p:txBody>
      </p:sp>
      <p:sp>
        <p:nvSpPr>
          <p:cNvPr id="3" name="Content Placeholder 2">
            <a:extLst>
              <a:ext uri="{FF2B5EF4-FFF2-40B4-BE49-F238E27FC236}">
                <a16:creationId xmlns:a16="http://schemas.microsoft.com/office/drawing/2014/main" id="{50D8DA41-791E-8D48-3E32-D6140D8A9B96}"/>
              </a:ext>
            </a:extLst>
          </p:cNvPr>
          <p:cNvSpPr>
            <a:spLocks noGrp="1"/>
          </p:cNvSpPr>
          <p:nvPr>
            <p:ph idx="1"/>
          </p:nvPr>
        </p:nvSpPr>
        <p:spPr/>
        <p:txBody>
          <a:bodyPr/>
          <a:lstStyle/>
          <a:p>
            <a:r>
              <a:rPr lang="en-US" dirty="0">
                <a:effectLst/>
              </a:rPr>
              <a:t>Target month-to-month + high-charge customers with discounts/long-term offers</a:t>
            </a:r>
          </a:p>
          <a:p>
            <a:r>
              <a:rPr lang="en-US" dirty="0">
                <a:effectLst/>
              </a:rPr>
              <a:t>Bundle services (security/streaming/tech support) to reduce risk</a:t>
            </a:r>
          </a:p>
          <a:p>
            <a:r>
              <a:rPr lang="en-US" dirty="0">
                <a:effectLst/>
              </a:rPr>
              <a:t>Monitor short-tenure customers</a:t>
            </a:r>
          </a:p>
          <a:p>
            <a:r>
              <a:rPr lang="en-US" dirty="0">
                <a:effectLst/>
              </a:rPr>
              <a:t>Ethics: Similar performance across gender/senior status; human review always required</a:t>
            </a:r>
          </a:p>
          <a:p>
            <a:endParaRPr lang="en-US" dirty="0"/>
          </a:p>
        </p:txBody>
      </p:sp>
      <p:pic>
        <p:nvPicPr>
          <p:cNvPr id="5" name="Audio 4">
            <a:hlinkClick r:id="" action="ppaction://media"/>
            <a:extLst>
              <a:ext uri="{FF2B5EF4-FFF2-40B4-BE49-F238E27FC236}">
                <a16:creationId xmlns:a16="http://schemas.microsoft.com/office/drawing/2014/main" id="{DD072973-6C26-77A2-DC41-91B3AF32170F}"/>
              </a:ext>
            </a:extLst>
          </p:cNvPr>
          <p:cNvPicPr>
            <a:picLocks noChangeAspect="1"/>
          </p:cNvPicPr>
          <p:nvPr>
            <a:audioFile r:link="rId2"/>
            <p:extLst>
              <p:ext uri="{DAA4B4D4-6D71-4841-9C94-3DE7FCFB9230}">
                <p14:media xmlns:p14="http://schemas.microsoft.com/office/powerpoint/2010/main" r:embed="rId1"/>
              </p:ext>
            </p:extLst>
          </p:nvPr>
        </p:nvPicPr>
        <p:blipFill>
          <a:blip r:embed="rId5"/>
          <a:srcRect l="-118750" t="-118750" r="-118750" b="-118750"/>
          <a:stretch>
            <a:fillRect/>
          </a:stretch>
        </p:blipFill>
        <p:spPr>
          <a:xfrm>
            <a:off x="10052304" y="4718304"/>
            <a:ext cx="2057400" cy="2057400"/>
          </a:xfrm>
          <a:prstGeom prst="ellipse">
            <a:avLst/>
          </a:prstGeom>
        </p:spPr>
      </p:pic>
    </p:spTree>
    <p:extLst>
      <p:ext uri="{BB962C8B-B14F-4D97-AF65-F5344CB8AC3E}">
        <p14:creationId xmlns:p14="http://schemas.microsoft.com/office/powerpoint/2010/main" val="286050169"/>
      </p:ext>
    </p:extLst>
  </p:cSld>
  <p:clrMapOvr>
    <a:masterClrMapping/>
  </p:clrMapOvr>
  <mc:AlternateContent xmlns:mc="http://schemas.openxmlformats.org/markup-compatibility/2006">
    <mc:Choice xmlns:p14="http://schemas.microsoft.com/office/powerpoint/2010/main" Requires="p14">
      <p:transition spd="slow" p14:dur="2000" advTm="39867"/>
    </mc:Choice>
    <mc:Fallback>
      <p:transition spd="slow" advTm="39867"/>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5"/>
                </p:tgtEl>
              </p:cMediaNode>
            </p:audio>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7FBEA5-7AFF-DEF8-B558-082D46D8DFBB}"/>
              </a:ext>
            </a:extLst>
          </p:cNvPr>
          <p:cNvSpPr>
            <a:spLocks noGrp="1"/>
          </p:cNvSpPr>
          <p:nvPr>
            <p:ph type="title"/>
          </p:nvPr>
        </p:nvSpPr>
        <p:spPr/>
        <p:txBody>
          <a:bodyPr/>
          <a:lstStyle/>
          <a:p>
            <a:r>
              <a:rPr lang="en-US" dirty="0"/>
              <a:t>Closing</a:t>
            </a:r>
          </a:p>
        </p:txBody>
      </p:sp>
      <p:sp>
        <p:nvSpPr>
          <p:cNvPr id="3" name="Content Placeholder 2">
            <a:extLst>
              <a:ext uri="{FF2B5EF4-FFF2-40B4-BE49-F238E27FC236}">
                <a16:creationId xmlns:a16="http://schemas.microsoft.com/office/drawing/2014/main" id="{C154A138-AE5F-5976-9D9F-930F632BC3A7}"/>
              </a:ext>
            </a:extLst>
          </p:cNvPr>
          <p:cNvSpPr>
            <a:spLocks noGrp="1"/>
          </p:cNvSpPr>
          <p:nvPr>
            <p:ph idx="1"/>
          </p:nvPr>
        </p:nvSpPr>
        <p:spPr/>
        <p:txBody>
          <a:bodyPr/>
          <a:lstStyle/>
          <a:p>
            <a:r>
              <a:rPr lang="en-US" dirty="0">
                <a:effectLst/>
              </a:rPr>
              <a:t>Key takeaway: Good predictions + clear explanations = actionable retention strategies</a:t>
            </a:r>
          </a:p>
          <a:p>
            <a:r>
              <a:rPr lang="en-US" dirty="0">
                <a:effectLst/>
              </a:rPr>
              <a:t>Next: Validate on real data, add support ticket trends</a:t>
            </a:r>
          </a:p>
          <a:p>
            <a:r>
              <a:rPr lang="en-US" dirty="0"/>
              <a:t>Thank you!</a:t>
            </a:r>
          </a:p>
        </p:txBody>
      </p:sp>
      <p:pic>
        <p:nvPicPr>
          <p:cNvPr id="5" name="Audio 4">
            <a:hlinkClick r:id="" action="ppaction://media"/>
            <a:extLst>
              <a:ext uri="{FF2B5EF4-FFF2-40B4-BE49-F238E27FC236}">
                <a16:creationId xmlns:a16="http://schemas.microsoft.com/office/drawing/2014/main" id="{08E6755A-7EC2-17D5-0CC4-692B4C442E24}"/>
              </a:ext>
            </a:extLst>
          </p:cNvPr>
          <p:cNvPicPr>
            <a:picLocks noChangeAspect="1"/>
          </p:cNvPicPr>
          <p:nvPr>
            <a:audioFile r:link="rId2"/>
            <p:extLst>
              <p:ext uri="{DAA4B4D4-6D71-4841-9C94-3DE7FCFB9230}">
                <p14:media xmlns:p14="http://schemas.microsoft.com/office/powerpoint/2010/main" r:embed="rId1"/>
              </p:ext>
            </p:extLst>
          </p:nvPr>
        </p:nvPicPr>
        <p:blipFill>
          <a:blip r:embed="rId5"/>
          <a:srcRect l="-118750" t="-118750" r="-118750" b="-118750"/>
          <a:stretch>
            <a:fillRect/>
          </a:stretch>
        </p:blipFill>
        <p:spPr>
          <a:xfrm>
            <a:off x="10052304" y="4718304"/>
            <a:ext cx="2057400" cy="2057400"/>
          </a:xfrm>
          <a:prstGeom prst="ellipse">
            <a:avLst/>
          </a:prstGeom>
        </p:spPr>
      </p:pic>
    </p:spTree>
    <p:extLst>
      <p:ext uri="{BB962C8B-B14F-4D97-AF65-F5344CB8AC3E}">
        <p14:creationId xmlns:p14="http://schemas.microsoft.com/office/powerpoint/2010/main" val="3264675827"/>
      </p:ext>
    </p:extLst>
  </p:cSld>
  <p:clrMapOvr>
    <a:masterClrMapping/>
  </p:clrMapOvr>
  <mc:AlternateContent xmlns:mc="http://schemas.openxmlformats.org/markup-compatibility/2006">
    <mc:Choice xmlns:p14="http://schemas.microsoft.com/office/powerpoint/2010/main" Requires="p14">
      <p:transition spd="slow" p14:dur="2000" advTm="28128"/>
    </mc:Choice>
    <mc:Fallback>
      <p:transition spd="slow" advTm="28128"/>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5"/>
                </p:tgtEl>
              </p:cMediaNode>
            </p:audio>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23</TotalTime>
  <Words>1066</Words>
  <Application>Microsoft Office PowerPoint</Application>
  <PresentationFormat>Widescreen</PresentationFormat>
  <Paragraphs>63</Paragraphs>
  <Slides>10</Slides>
  <Notes>10</Notes>
  <HiddenSlides>0</HiddenSlides>
  <MMClips>10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Aptos</vt:lpstr>
      <vt:lpstr>Aptos Display</vt:lpstr>
      <vt:lpstr>Arial</vt:lpstr>
      <vt:lpstr>Office Theme</vt:lpstr>
      <vt:lpstr>Predicting Telecom Customer Churn</vt:lpstr>
      <vt:lpstr>Business Problem</vt:lpstr>
      <vt:lpstr>Data &amp; Preparation</vt:lpstr>
      <vt:lpstr>Methods</vt:lpstr>
      <vt:lpstr>Results Overview</vt:lpstr>
      <vt:lpstr>SHAP Insights</vt:lpstr>
      <vt:lpstr>Model Quality</vt:lpstr>
      <vt:lpstr>Practical Demo</vt:lpstr>
      <vt:lpstr>Recommendations &amp; Ethics</vt:lpstr>
      <vt:lpstr>Closing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alex spence</dc:creator>
  <cp:lastModifiedBy>alex spence</cp:lastModifiedBy>
  <cp:revision>2</cp:revision>
  <dcterms:created xsi:type="dcterms:W3CDTF">2026-02-28T15:01:21Z</dcterms:created>
  <dcterms:modified xsi:type="dcterms:W3CDTF">2026-02-28T15:24:47Z</dcterms:modified>
</cp:coreProperties>
</file>